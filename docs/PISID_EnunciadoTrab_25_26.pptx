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X4tmTUql/16yijPLyADS2wSEA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PT"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4"/>
          <p:cNvSpPr>
            <a:spLocks noGrp="1"/>
          </p:cNvSpPr>
          <p:nvPr>
            <p:ph type="pic" idx="2"/>
          </p:nvPr>
        </p:nvSpPr>
        <p:spPr>
          <a:xfrm>
            <a:off x="1792288" y="612775"/>
            <a:ext cx="5486400" cy="4114800"/>
          </a:xfrm>
          <a:prstGeom prst="rect">
            <a:avLst/>
          </a:prstGeom>
          <a:noFill/>
          <a:ln>
            <a:noFill/>
          </a:ln>
        </p:spPr>
      </p:sp>
      <p:sp>
        <p:nvSpPr>
          <p:cNvPr id="68" name="Google Shape;68;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PT"/>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jpg"/><Relationship Id="rId3" Type="http://schemas.openxmlformats.org/officeDocument/2006/relationships/image" Target="../media/image6.png"/><Relationship Id="rId7" Type="http://schemas.openxmlformats.org/officeDocument/2006/relationships/image" Target="../media/image4.png"/><Relationship Id="rId12"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jpg"/><Relationship Id="rId15" Type="http://schemas.openxmlformats.org/officeDocument/2006/relationships/image" Target="../media/image17.jpg"/><Relationship Id="rId10" Type="http://schemas.openxmlformats.org/officeDocument/2006/relationships/image" Target="../media/image12.png"/><Relationship Id="rId4" Type="http://schemas.openxmlformats.org/officeDocument/2006/relationships/image" Target="../media/image7.jpg"/><Relationship Id="rId9" Type="http://schemas.openxmlformats.org/officeDocument/2006/relationships/image" Target="../media/image11.png"/><Relationship Id="rId1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pt-PT"/>
              <a:t>Sistemas de Informação Distribuídos</a:t>
            </a:r>
            <a:endParaRPr/>
          </a:p>
        </p:txBody>
      </p:sp>
      <p:sp>
        <p:nvSpPr>
          <p:cNvPr id="89" name="Google Shape;89;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pt-PT"/>
              <a:t>Projecto</a:t>
            </a:r>
            <a:endParaRPr/>
          </a:p>
          <a:p>
            <a:pPr marL="0" lvl="0" indent="0" algn="ctr" rtl="0">
              <a:spcBef>
                <a:spcPts val="640"/>
              </a:spcBef>
              <a:spcAft>
                <a:spcPts val="0"/>
              </a:spcAft>
              <a:buClr>
                <a:srgbClr val="888888"/>
              </a:buClr>
              <a:buSzPts val="3200"/>
              <a:buNone/>
            </a:pPr>
            <a:r>
              <a:rPr lang="pt-PT"/>
              <a:t>Labirinto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p:nvPr/>
        </p:nvSpPr>
        <p:spPr>
          <a:xfrm>
            <a:off x="251520" y="260648"/>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b="0" i="0" u="none" strike="noStrike" cap="none">
                <a:solidFill>
                  <a:schemeClr val="dk1"/>
                </a:solidFill>
                <a:latin typeface="Calibri"/>
                <a:ea typeface="Calibri"/>
                <a:cs typeface="Calibri"/>
                <a:sym typeface="Calibri"/>
              </a:rPr>
              <a:t>Objetivo Projeto</a:t>
            </a:r>
            <a:endParaRPr sz="1200" b="0" i="0" u="none" strike="noStrike" cap="none">
              <a:solidFill>
                <a:schemeClr val="dk1"/>
              </a:solidFill>
              <a:latin typeface="Calibri"/>
              <a:ea typeface="Calibri"/>
              <a:cs typeface="Calibri"/>
              <a:sym typeface="Calibri"/>
            </a:endParaRPr>
          </a:p>
        </p:txBody>
      </p:sp>
      <p:sp>
        <p:nvSpPr>
          <p:cNvPr id="95" name="Google Shape;95;p2"/>
          <p:cNvSpPr/>
          <p:nvPr/>
        </p:nvSpPr>
        <p:spPr>
          <a:xfrm>
            <a:off x="237278" y="1489087"/>
            <a:ext cx="8208912"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800" b="0" i="0" u="none" strike="noStrike" cap="none">
                <a:solidFill>
                  <a:schemeClr val="dk1"/>
                </a:solidFill>
                <a:latin typeface="Calibri"/>
                <a:ea typeface="Calibri"/>
                <a:cs typeface="Calibri"/>
                <a:sym typeface="Calibri"/>
              </a:rPr>
              <a:t>Depois de terminado o projeto os alunos terão experimentado implementar uma solução que contempla:</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Dados distribuídos em pelo menos dois computadores;</a:t>
            </a:r>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Dados armazenados em duas tecnologias diferentes: modelo relacional (Mysql) e não relacional (MongoDB);</a:t>
            </a:r>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Tolerância a falhas originadas por “crash” em bases de dados/pcs e em software;</a:t>
            </a:r>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Migração incremental de dados entre bases de dados;</a:t>
            </a:r>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Utilização de protocolo MQTT para receção de dados de sensores e transmissão de dados entre diferentes pcs;</a:t>
            </a:r>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Deteção de outliers e dados “sujos” provenientes de sensores;</a:t>
            </a:r>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Atuação em tempo real no sistema (granularidade de segundo); </a:t>
            </a:r>
            <a:endParaRPr/>
          </a:p>
          <a:p>
            <a:pPr marL="171450" marR="0" lvl="0" indent="-171450" algn="l" rtl="0">
              <a:spcBef>
                <a:spcPts val="0"/>
              </a:spcBef>
              <a:spcAft>
                <a:spcPts val="0"/>
              </a:spcAft>
              <a:buClr>
                <a:schemeClr val="dk1"/>
              </a:buClr>
              <a:buSzPts val="1800"/>
              <a:buFont typeface="Arial"/>
              <a:buChar char="•"/>
            </a:pPr>
            <a:r>
              <a:rPr lang="pt-PT" sz="1800">
                <a:solidFill>
                  <a:schemeClr val="dk1"/>
                </a:solidFill>
                <a:latin typeface="Calibri"/>
                <a:ea typeface="Calibri"/>
                <a:cs typeface="Calibri"/>
                <a:sym typeface="Calibri"/>
              </a:rPr>
              <a:t>Utilização das linguagens python, php e android studio;</a:t>
            </a:r>
            <a:endParaRPr/>
          </a:p>
          <a:p>
            <a:pPr marL="171450" marR="0" lvl="0" indent="-171450" algn="l" rtl="0">
              <a:spcBef>
                <a:spcPts val="0"/>
              </a:spcBef>
              <a:spcAft>
                <a:spcPts val="0"/>
              </a:spcAft>
              <a:buClr>
                <a:schemeClr val="dk1"/>
              </a:buClr>
              <a:buSzPts val="1800"/>
              <a:buFont typeface="Arial"/>
              <a:buChar char="•"/>
            </a:pPr>
            <a:r>
              <a:rPr lang="pt-PT" sz="1800" u="sng">
                <a:solidFill>
                  <a:schemeClr val="dk1"/>
                </a:solidFill>
                <a:latin typeface="Calibri"/>
                <a:ea typeface="Calibri"/>
                <a:cs typeface="Calibri"/>
                <a:sym typeface="Calibri"/>
              </a:rPr>
              <a:t>Lidar com indefinições de requisitos</a:t>
            </a:r>
            <a:r>
              <a:rPr lang="pt-PT"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p:nvPr/>
        </p:nvSpPr>
        <p:spPr>
          <a:xfrm>
            <a:off x="517023" y="150194"/>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Labirinto</a:t>
            </a:r>
            <a:endParaRPr sz="1200">
              <a:solidFill>
                <a:schemeClr val="dk1"/>
              </a:solidFill>
              <a:latin typeface="Calibri"/>
              <a:ea typeface="Calibri"/>
              <a:cs typeface="Calibri"/>
              <a:sym typeface="Calibri"/>
            </a:endParaRPr>
          </a:p>
        </p:txBody>
      </p:sp>
      <p:grpSp>
        <p:nvGrpSpPr>
          <p:cNvPr id="101" name="Google Shape;101;p3"/>
          <p:cNvGrpSpPr/>
          <p:nvPr/>
        </p:nvGrpSpPr>
        <p:grpSpPr>
          <a:xfrm>
            <a:off x="2699792" y="3212976"/>
            <a:ext cx="3312368" cy="2796271"/>
            <a:chOff x="179512" y="1111223"/>
            <a:chExt cx="3312368" cy="2796271"/>
          </a:xfrm>
        </p:grpSpPr>
        <p:sp>
          <p:nvSpPr>
            <p:cNvPr id="102" name="Google Shape;102;p3"/>
            <p:cNvSpPr/>
            <p:nvPr/>
          </p:nvSpPr>
          <p:spPr>
            <a:xfrm>
              <a:off x="797000" y="1111223"/>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1</a:t>
              </a:r>
              <a:endParaRPr/>
            </a:p>
          </p:txBody>
        </p:sp>
        <p:sp>
          <p:nvSpPr>
            <p:cNvPr id="103" name="Google Shape;103;p3"/>
            <p:cNvSpPr/>
            <p:nvPr/>
          </p:nvSpPr>
          <p:spPr>
            <a:xfrm>
              <a:off x="2699792" y="1188136"/>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2</a:t>
              </a:r>
              <a:endParaRPr/>
            </a:p>
          </p:txBody>
        </p:sp>
        <p:sp>
          <p:nvSpPr>
            <p:cNvPr id="104" name="Google Shape;104;p3"/>
            <p:cNvSpPr/>
            <p:nvPr/>
          </p:nvSpPr>
          <p:spPr>
            <a:xfrm>
              <a:off x="2016251" y="2268256"/>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8</a:t>
              </a:r>
              <a:endParaRPr/>
            </a:p>
          </p:txBody>
        </p:sp>
        <p:sp>
          <p:nvSpPr>
            <p:cNvPr id="105" name="Google Shape;105;p3"/>
            <p:cNvSpPr/>
            <p:nvPr/>
          </p:nvSpPr>
          <p:spPr>
            <a:xfrm>
              <a:off x="2224712" y="3405179"/>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5</a:t>
              </a:r>
              <a:endParaRPr/>
            </a:p>
          </p:txBody>
        </p:sp>
        <p:sp>
          <p:nvSpPr>
            <p:cNvPr id="106" name="Google Shape;106;p3"/>
            <p:cNvSpPr/>
            <p:nvPr/>
          </p:nvSpPr>
          <p:spPr>
            <a:xfrm>
              <a:off x="179512" y="2675443"/>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10</a:t>
              </a:r>
              <a:endParaRPr/>
            </a:p>
          </p:txBody>
        </p:sp>
        <p:sp>
          <p:nvSpPr>
            <p:cNvPr id="107" name="Google Shape;107;p3"/>
            <p:cNvSpPr/>
            <p:nvPr/>
          </p:nvSpPr>
          <p:spPr>
            <a:xfrm>
              <a:off x="1589088" y="1259150"/>
              <a:ext cx="1110704"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3"/>
            <p:cNvSpPr/>
            <p:nvPr/>
          </p:nvSpPr>
          <p:spPr>
            <a:xfrm rot="2498248">
              <a:off x="1352352" y="1782059"/>
              <a:ext cx="1110704"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3"/>
            <p:cNvSpPr/>
            <p:nvPr/>
          </p:nvSpPr>
          <p:spPr>
            <a:xfrm rot="-8309332">
              <a:off x="1027044" y="1899228"/>
              <a:ext cx="1180619"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3"/>
            <p:cNvSpPr/>
            <p:nvPr/>
          </p:nvSpPr>
          <p:spPr>
            <a:xfrm rot="6437485">
              <a:off x="246643" y="1988272"/>
              <a:ext cx="1110704"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3"/>
            <p:cNvSpPr/>
            <p:nvPr/>
          </p:nvSpPr>
          <p:spPr>
            <a:xfrm rot="1260163">
              <a:off x="932910" y="3085421"/>
              <a:ext cx="1446679"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3"/>
            <p:cNvSpPr/>
            <p:nvPr/>
          </p:nvSpPr>
          <p:spPr>
            <a:xfrm rot="-5400000">
              <a:off x="2199253" y="2966156"/>
              <a:ext cx="627629" cy="2364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 name="Google Shape;113;p3"/>
            <p:cNvSpPr/>
            <p:nvPr/>
          </p:nvSpPr>
          <p:spPr>
            <a:xfrm rot="6133563">
              <a:off x="2059126" y="2439711"/>
              <a:ext cx="1763189"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4" name="Google Shape;114;p3" descr="Uma imagem com desenho, clipart, ilustração, Desenho animado&#10;&#10;Os conteúdos gerados por IA podem estar incorretos."/>
            <p:cNvPicPr preferRelativeResize="0"/>
            <p:nvPr/>
          </p:nvPicPr>
          <p:blipFill rotWithShape="1">
            <a:blip r:embed="rId3">
              <a:alphaModFix/>
            </a:blip>
            <a:srcRect/>
            <a:stretch/>
          </p:blipFill>
          <p:spPr>
            <a:xfrm>
              <a:off x="1026639" y="1303080"/>
              <a:ext cx="320824" cy="320824"/>
            </a:xfrm>
            <a:prstGeom prst="rect">
              <a:avLst/>
            </a:prstGeom>
            <a:noFill/>
            <a:ln>
              <a:noFill/>
            </a:ln>
          </p:spPr>
        </p:pic>
        <p:pic>
          <p:nvPicPr>
            <p:cNvPr id="115" name="Google Shape;115;p3" descr="Uma imagem com desenho, clipart, ilustração, Desenho animado&#10;&#10;Os conteúdos gerados por IA podem estar incorretos."/>
            <p:cNvPicPr preferRelativeResize="0"/>
            <p:nvPr/>
          </p:nvPicPr>
          <p:blipFill rotWithShape="1">
            <a:blip r:embed="rId3">
              <a:alphaModFix/>
            </a:blip>
            <a:srcRect/>
            <a:stretch/>
          </p:blipFill>
          <p:spPr>
            <a:xfrm>
              <a:off x="1428676" y="1812154"/>
              <a:ext cx="320824" cy="320824"/>
            </a:xfrm>
            <a:prstGeom prst="rect">
              <a:avLst/>
            </a:prstGeom>
            <a:noFill/>
            <a:ln>
              <a:noFill/>
            </a:ln>
          </p:spPr>
        </p:pic>
        <p:pic>
          <p:nvPicPr>
            <p:cNvPr id="116" name="Google Shape;116;p3" descr="Uma imagem com desenho, clipart, ilustração, Desenho animado&#10;&#10;Os conteúdos gerados por IA podem estar incorretos."/>
            <p:cNvPicPr preferRelativeResize="0"/>
            <p:nvPr/>
          </p:nvPicPr>
          <p:blipFill rotWithShape="1">
            <a:blip r:embed="rId3">
              <a:alphaModFix/>
            </a:blip>
            <a:srcRect/>
            <a:stretch/>
          </p:blipFill>
          <p:spPr>
            <a:xfrm>
              <a:off x="2754388" y="1319803"/>
              <a:ext cx="320824" cy="320824"/>
            </a:xfrm>
            <a:prstGeom prst="rect">
              <a:avLst/>
            </a:prstGeom>
            <a:noFill/>
            <a:ln>
              <a:noFill/>
            </a:ln>
          </p:spPr>
        </p:pic>
        <p:pic>
          <p:nvPicPr>
            <p:cNvPr id="117" name="Google Shape;117;p3" descr="Uma imagem com desenho, clipart, ilustração, Desenho animado&#10;&#10;Os conteúdos gerados por IA podem estar incorretos."/>
            <p:cNvPicPr preferRelativeResize="0"/>
            <p:nvPr/>
          </p:nvPicPr>
          <p:blipFill rotWithShape="1">
            <a:blip r:embed="rId3">
              <a:alphaModFix/>
            </a:blip>
            <a:srcRect/>
            <a:stretch/>
          </p:blipFill>
          <p:spPr>
            <a:xfrm>
              <a:off x="2962722" y="1379121"/>
              <a:ext cx="320824" cy="320824"/>
            </a:xfrm>
            <a:prstGeom prst="rect">
              <a:avLst/>
            </a:prstGeom>
            <a:noFill/>
            <a:ln>
              <a:noFill/>
            </a:ln>
          </p:spPr>
        </p:pic>
        <p:pic>
          <p:nvPicPr>
            <p:cNvPr id="118" name="Google Shape;118;p3" descr="Uma imagem com desenho, clipart, ilustração, Desenho animado&#10;&#10;Os conteúdos gerados por IA podem estar incorretos."/>
            <p:cNvPicPr preferRelativeResize="0"/>
            <p:nvPr/>
          </p:nvPicPr>
          <p:blipFill rotWithShape="1">
            <a:blip r:embed="rId3">
              <a:alphaModFix/>
            </a:blip>
            <a:srcRect/>
            <a:stretch/>
          </p:blipFill>
          <p:spPr>
            <a:xfrm>
              <a:off x="1229708" y="2939315"/>
              <a:ext cx="320824" cy="320824"/>
            </a:xfrm>
            <a:prstGeom prst="rect">
              <a:avLst/>
            </a:prstGeom>
            <a:noFill/>
            <a:ln>
              <a:noFill/>
            </a:ln>
          </p:spPr>
        </p:pic>
        <p:pic>
          <p:nvPicPr>
            <p:cNvPr id="119" name="Google Shape;119;p3" descr="Uma imagem com desenho, clipart, ilustração, Desenho animado&#10;&#10;Os conteúdos gerados por IA podem estar incorretos."/>
            <p:cNvPicPr preferRelativeResize="0"/>
            <p:nvPr/>
          </p:nvPicPr>
          <p:blipFill rotWithShape="1">
            <a:blip r:embed="rId3">
              <a:alphaModFix/>
            </a:blip>
            <a:srcRect/>
            <a:stretch/>
          </p:blipFill>
          <p:spPr>
            <a:xfrm>
              <a:off x="2398370" y="2434453"/>
              <a:ext cx="320824" cy="320824"/>
            </a:xfrm>
            <a:prstGeom prst="rect">
              <a:avLst/>
            </a:prstGeom>
            <a:noFill/>
            <a:ln>
              <a:noFill/>
            </a:ln>
          </p:spPr>
        </p:pic>
      </p:grpSp>
      <p:sp>
        <p:nvSpPr>
          <p:cNvPr id="120" name="Google Shape;120;p3"/>
          <p:cNvSpPr/>
          <p:nvPr/>
        </p:nvSpPr>
        <p:spPr>
          <a:xfrm>
            <a:off x="251520" y="1053266"/>
            <a:ext cx="8784976" cy="181588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pt-PT" sz="1400">
                <a:solidFill>
                  <a:schemeClr val="dk1"/>
                </a:solidFill>
                <a:latin typeface="Calibri"/>
                <a:ea typeface="Calibri"/>
                <a:cs typeface="Calibri"/>
                <a:sym typeface="Calibri"/>
              </a:rPr>
              <a:t>Salas ligadas por corredores unidirecionais </a:t>
            </a:r>
            <a:r>
              <a:rPr lang="pt-PT" sz="1200">
                <a:solidFill>
                  <a:schemeClr val="dk1"/>
                </a:solidFill>
                <a:latin typeface="Calibri"/>
                <a:ea typeface="Calibri"/>
                <a:cs typeface="Calibri"/>
                <a:sym typeface="Calibri"/>
              </a:rPr>
              <a:t>(só se caminha num sentido)</a:t>
            </a:r>
            <a:r>
              <a:rPr lang="pt-PT" sz="1400">
                <a:solidFill>
                  <a:schemeClr val="dk1"/>
                </a:solidFill>
                <a:latin typeface="Calibri"/>
                <a:ea typeface="Calibri"/>
                <a:cs typeface="Calibri"/>
                <a:sym typeface="Calibri"/>
              </a:rPr>
              <a:t>;</a:t>
            </a:r>
            <a:endParaRPr/>
          </a:p>
          <a:p>
            <a:pPr marL="285750" marR="0" lvl="0" indent="-285750" algn="l" rtl="0">
              <a:spcBef>
                <a:spcPts val="0"/>
              </a:spcBef>
              <a:spcAft>
                <a:spcPts val="0"/>
              </a:spcAft>
              <a:buClr>
                <a:schemeClr val="dk1"/>
              </a:buClr>
              <a:buSzPts val="1400"/>
              <a:buFont typeface="Arial"/>
              <a:buChar char="•"/>
            </a:pPr>
            <a:r>
              <a:rPr lang="pt-PT" sz="1400">
                <a:solidFill>
                  <a:schemeClr val="dk1"/>
                </a:solidFill>
                <a:latin typeface="Calibri"/>
                <a:ea typeface="Calibri"/>
                <a:cs typeface="Calibri"/>
                <a:sym typeface="Calibri"/>
              </a:rPr>
              <a:t>A uma sala podem chegar e sair vários corredores;</a:t>
            </a:r>
            <a:endParaRPr/>
          </a:p>
          <a:p>
            <a:pPr marL="285750" marR="0" lvl="0" indent="-285750" algn="l" rtl="0">
              <a:spcBef>
                <a:spcPts val="0"/>
              </a:spcBef>
              <a:spcAft>
                <a:spcPts val="0"/>
              </a:spcAft>
              <a:buClr>
                <a:schemeClr val="dk1"/>
              </a:buClr>
              <a:buSzPts val="1400"/>
              <a:buFont typeface="Arial"/>
              <a:buChar char="•"/>
            </a:pPr>
            <a:r>
              <a:rPr lang="pt-PT" sz="1400">
                <a:solidFill>
                  <a:schemeClr val="dk1"/>
                </a:solidFill>
                <a:latin typeface="Calibri"/>
                <a:ea typeface="Calibri"/>
                <a:cs typeface="Calibri"/>
                <a:sym typeface="Calibri"/>
              </a:rPr>
              <a:t>Os marsamis começam por ser largados numa sala e movem-se livremente (aleatoriamente?) pelos corredores;</a:t>
            </a:r>
            <a:endParaRPr/>
          </a:p>
          <a:p>
            <a:pPr marL="285750" marR="0" lvl="0" indent="-285750" algn="l" rtl="0">
              <a:spcBef>
                <a:spcPts val="0"/>
              </a:spcBef>
              <a:spcAft>
                <a:spcPts val="0"/>
              </a:spcAft>
              <a:buClr>
                <a:schemeClr val="dk1"/>
              </a:buClr>
              <a:buSzPts val="1400"/>
              <a:buFont typeface="Arial"/>
              <a:buChar char="•"/>
            </a:pPr>
            <a:r>
              <a:rPr lang="pt-PT" sz="1400">
                <a:solidFill>
                  <a:schemeClr val="dk1"/>
                </a:solidFill>
                <a:latin typeface="Calibri"/>
                <a:ea typeface="Calibri"/>
                <a:cs typeface="Calibri"/>
                <a:sym typeface="Calibri"/>
              </a:rPr>
              <a:t>Os corredores podem ser individualmente fechados e abertos (impedindo marsamis de circular);</a:t>
            </a:r>
            <a:endParaRPr/>
          </a:p>
          <a:p>
            <a:pPr marL="285750" marR="0" lvl="0" indent="-285750" algn="l" rtl="0">
              <a:spcBef>
                <a:spcPts val="0"/>
              </a:spcBef>
              <a:spcAft>
                <a:spcPts val="0"/>
              </a:spcAft>
              <a:buClr>
                <a:schemeClr val="dk1"/>
              </a:buClr>
              <a:buSzPts val="1400"/>
              <a:buFont typeface="Arial"/>
              <a:buChar char="•"/>
            </a:pPr>
            <a:r>
              <a:rPr lang="pt-PT" sz="1400">
                <a:solidFill>
                  <a:schemeClr val="dk1"/>
                </a:solidFill>
                <a:latin typeface="Calibri"/>
                <a:ea typeface="Calibri"/>
                <a:cs typeface="Calibri"/>
                <a:sym typeface="Calibri"/>
              </a:rPr>
              <a:t>Os marsamis cansam-se, passado um determinado tempo eles deixam de se deslocar;</a:t>
            </a:r>
            <a:endParaRPr/>
          </a:p>
          <a:p>
            <a:pPr marL="285750" marR="0" lvl="0" indent="-285750" algn="l" rtl="0">
              <a:spcBef>
                <a:spcPts val="0"/>
              </a:spcBef>
              <a:spcAft>
                <a:spcPts val="0"/>
              </a:spcAft>
              <a:buClr>
                <a:schemeClr val="dk1"/>
              </a:buClr>
              <a:buSzPts val="1400"/>
              <a:buFont typeface="Arial"/>
              <a:buChar char="•"/>
            </a:pPr>
            <a:r>
              <a:rPr lang="pt-PT" sz="1400">
                <a:solidFill>
                  <a:schemeClr val="dk1"/>
                </a:solidFill>
                <a:latin typeface="Calibri"/>
                <a:ea typeface="Calibri"/>
                <a:cs typeface="Calibri"/>
                <a:sym typeface="Calibri"/>
              </a:rPr>
              <a:t>Os marsamis imobilizam-se definitivamente caso  temperatura ou nível de ruído do labirinto atinja um certo valor;</a:t>
            </a:r>
            <a:endParaRPr/>
          </a:p>
          <a:p>
            <a:pPr marL="285750" marR="0" lvl="0" indent="-285750" algn="l" rtl="0">
              <a:spcBef>
                <a:spcPts val="0"/>
              </a:spcBef>
              <a:spcAft>
                <a:spcPts val="0"/>
              </a:spcAft>
              <a:buClr>
                <a:schemeClr val="dk1"/>
              </a:buClr>
              <a:buSzPts val="1400"/>
              <a:buFont typeface="Arial"/>
              <a:buChar char="•"/>
            </a:pPr>
            <a:r>
              <a:rPr lang="pt-PT" sz="1400">
                <a:solidFill>
                  <a:schemeClr val="dk1"/>
                </a:solidFill>
                <a:latin typeface="Calibri"/>
                <a:ea typeface="Calibri"/>
                <a:cs typeface="Calibri"/>
                <a:sym typeface="Calibri"/>
              </a:rPr>
              <a:t>Existem marsamis “odd” e “even”.</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p:nvPr/>
        </p:nvSpPr>
        <p:spPr>
          <a:xfrm>
            <a:off x="517023" y="150194"/>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Programa (“Simulador”)</a:t>
            </a:r>
            <a:endParaRPr sz="1200">
              <a:solidFill>
                <a:schemeClr val="dk1"/>
              </a:solidFill>
              <a:latin typeface="Calibri"/>
              <a:ea typeface="Calibri"/>
              <a:cs typeface="Calibri"/>
              <a:sym typeface="Calibri"/>
            </a:endParaRPr>
          </a:p>
        </p:txBody>
      </p:sp>
      <p:grpSp>
        <p:nvGrpSpPr>
          <p:cNvPr id="126" name="Google Shape;126;p4"/>
          <p:cNvGrpSpPr/>
          <p:nvPr/>
        </p:nvGrpSpPr>
        <p:grpSpPr>
          <a:xfrm>
            <a:off x="6166691" y="3549665"/>
            <a:ext cx="2596543" cy="2468121"/>
            <a:chOff x="179512" y="1111223"/>
            <a:chExt cx="3312368" cy="2796271"/>
          </a:xfrm>
        </p:grpSpPr>
        <p:sp>
          <p:nvSpPr>
            <p:cNvPr id="127" name="Google Shape;127;p4"/>
            <p:cNvSpPr/>
            <p:nvPr/>
          </p:nvSpPr>
          <p:spPr>
            <a:xfrm>
              <a:off x="797000" y="1111223"/>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1</a:t>
              </a:r>
              <a:endParaRPr/>
            </a:p>
          </p:txBody>
        </p:sp>
        <p:sp>
          <p:nvSpPr>
            <p:cNvPr id="128" name="Google Shape;128;p4"/>
            <p:cNvSpPr/>
            <p:nvPr/>
          </p:nvSpPr>
          <p:spPr>
            <a:xfrm>
              <a:off x="2699792" y="1188136"/>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2</a:t>
              </a:r>
              <a:endParaRPr/>
            </a:p>
          </p:txBody>
        </p:sp>
        <p:sp>
          <p:nvSpPr>
            <p:cNvPr id="129" name="Google Shape;129;p4"/>
            <p:cNvSpPr/>
            <p:nvPr/>
          </p:nvSpPr>
          <p:spPr>
            <a:xfrm>
              <a:off x="2016251" y="2268256"/>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8</a:t>
              </a:r>
              <a:endParaRPr/>
            </a:p>
          </p:txBody>
        </p:sp>
        <p:sp>
          <p:nvSpPr>
            <p:cNvPr id="130" name="Google Shape;130;p4"/>
            <p:cNvSpPr/>
            <p:nvPr/>
          </p:nvSpPr>
          <p:spPr>
            <a:xfrm>
              <a:off x="2224712" y="3405179"/>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5</a:t>
              </a:r>
              <a:endParaRPr/>
            </a:p>
          </p:txBody>
        </p:sp>
        <p:sp>
          <p:nvSpPr>
            <p:cNvPr id="131" name="Google Shape;131;p4"/>
            <p:cNvSpPr/>
            <p:nvPr/>
          </p:nvSpPr>
          <p:spPr>
            <a:xfrm>
              <a:off x="179512" y="2675443"/>
              <a:ext cx="792088" cy="502315"/>
            </a:xfrm>
            <a:prstGeom prst="ellipse">
              <a:avLst/>
            </a:prstGeom>
            <a:solidFill>
              <a:schemeClr val="accent1">
                <a:alpha val="30980"/>
              </a:schemeClr>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PT" sz="1200">
                  <a:solidFill>
                    <a:schemeClr val="dk1"/>
                  </a:solidFill>
                  <a:latin typeface="Calibri"/>
                  <a:ea typeface="Calibri"/>
                  <a:cs typeface="Calibri"/>
                  <a:sym typeface="Calibri"/>
                </a:rPr>
                <a:t>Sala 10</a:t>
              </a:r>
              <a:endParaRPr/>
            </a:p>
          </p:txBody>
        </p:sp>
        <p:sp>
          <p:nvSpPr>
            <p:cNvPr id="132" name="Google Shape;132;p4"/>
            <p:cNvSpPr/>
            <p:nvPr/>
          </p:nvSpPr>
          <p:spPr>
            <a:xfrm>
              <a:off x="1589088" y="1259150"/>
              <a:ext cx="1110704"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4"/>
            <p:cNvSpPr/>
            <p:nvPr/>
          </p:nvSpPr>
          <p:spPr>
            <a:xfrm rot="2498248">
              <a:off x="1352352" y="1782059"/>
              <a:ext cx="1110704"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4"/>
            <p:cNvSpPr/>
            <p:nvPr/>
          </p:nvSpPr>
          <p:spPr>
            <a:xfrm rot="-8309332">
              <a:off x="1027044" y="1899228"/>
              <a:ext cx="1180619"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4"/>
            <p:cNvSpPr/>
            <p:nvPr/>
          </p:nvSpPr>
          <p:spPr>
            <a:xfrm rot="6437485">
              <a:off x="246643" y="1988272"/>
              <a:ext cx="1110704"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4"/>
            <p:cNvSpPr/>
            <p:nvPr/>
          </p:nvSpPr>
          <p:spPr>
            <a:xfrm rot="1260163">
              <a:off x="932910" y="3085421"/>
              <a:ext cx="1446679"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4"/>
            <p:cNvSpPr/>
            <p:nvPr/>
          </p:nvSpPr>
          <p:spPr>
            <a:xfrm rot="-5400000">
              <a:off x="2199253" y="2966156"/>
              <a:ext cx="627629" cy="2364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4"/>
            <p:cNvSpPr/>
            <p:nvPr/>
          </p:nvSpPr>
          <p:spPr>
            <a:xfrm rot="6133563">
              <a:off x="2059126" y="2439711"/>
              <a:ext cx="1763189" cy="251158"/>
            </a:xfrm>
            <a:prstGeom prst="rightArrow">
              <a:avLst>
                <a:gd name="adj1" fmla="val 50000"/>
                <a:gd name="adj2" fmla="val 50000"/>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9" name="Google Shape;139;p4" descr="Uma imagem com desenho, clipart, ilustração, Desenho animado&#10;&#10;Os conteúdos gerados por IA podem estar incorretos."/>
            <p:cNvPicPr preferRelativeResize="0"/>
            <p:nvPr/>
          </p:nvPicPr>
          <p:blipFill rotWithShape="1">
            <a:blip r:embed="rId3">
              <a:alphaModFix/>
            </a:blip>
            <a:srcRect/>
            <a:stretch/>
          </p:blipFill>
          <p:spPr>
            <a:xfrm>
              <a:off x="1026639" y="1303080"/>
              <a:ext cx="320824" cy="320824"/>
            </a:xfrm>
            <a:prstGeom prst="rect">
              <a:avLst/>
            </a:prstGeom>
            <a:noFill/>
            <a:ln>
              <a:noFill/>
            </a:ln>
          </p:spPr>
        </p:pic>
        <p:pic>
          <p:nvPicPr>
            <p:cNvPr id="140" name="Google Shape;140;p4" descr="Uma imagem com desenho, clipart, ilustração, Desenho animado&#10;&#10;Os conteúdos gerados por IA podem estar incorretos."/>
            <p:cNvPicPr preferRelativeResize="0"/>
            <p:nvPr/>
          </p:nvPicPr>
          <p:blipFill rotWithShape="1">
            <a:blip r:embed="rId3">
              <a:alphaModFix/>
            </a:blip>
            <a:srcRect/>
            <a:stretch/>
          </p:blipFill>
          <p:spPr>
            <a:xfrm>
              <a:off x="1428676" y="1812154"/>
              <a:ext cx="320824" cy="320824"/>
            </a:xfrm>
            <a:prstGeom prst="rect">
              <a:avLst/>
            </a:prstGeom>
            <a:noFill/>
            <a:ln>
              <a:noFill/>
            </a:ln>
          </p:spPr>
        </p:pic>
        <p:pic>
          <p:nvPicPr>
            <p:cNvPr id="141" name="Google Shape;141;p4" descr="Uma imagem com desenho, clipart, ilustração, Desenho animado&#10;&#10;Os conteúdos gerados por IA podem estar incorretos."/>
            <p:cNvPicPr preferRelativeResize="0"/>
            <p:nvPr/>
          </p:nvPicPr>
          <p:blipFill rotWithShape="1">
            <a:blip r:embed="rId3">
              <a:alphaModFix/>
            </a:blip>
            <a:srcRect/>
            <a:stretch/>
          </p:blipFill>
          <p:spPr>
            <a:xfrm>
              <a:off x="2754388" y="1319803"/>
              <a:ext cx="320824" cy="320824"/>
            </a:xfrm>
            <a:prstGeom prst="rect">
              <a:avLst/>
            </a:prstGeom>
            <a:noFill/>
            <a:ln>
              <a:noFill/>
            </a:ln>
          </p:spPr>
        </p:pic>
        <p:pic>
          <p:nvPicPr>
            <p:cNvPr id="142" name="Google Shape;142;p4" descr="Uma imagem com desenho, clipart, ilustração, Desenho animado&#10;&#10;Os conteúdos gerados por IA podem estar incorretos."/>
            <p:cNvPicPr preferRelativeResize="0"/>
            <p:nvPr/>
          </p:nvPicPr>
          <p:blipFill rotWithShape="1">
            <a:blip r:embed="rId3">
              <a:alphaModFix/>
            </a:blip>
            <a:srcRect/>
            <a:stretch/>
          </p:blipFill>
          <p:spPr>
            <a:xfrm>
              <a:off x="2962722" y="1379121"/>
              <a:ext cx="320824" cy="320824"/>
            </a:xfrm>
            <a:prstGeom prst="rect">
              <a:avLst/>
            </a:prstGeom>
            <a:noFill/>
            <a:ln>
              <a:noFill/>
            </a:ln>
          </p:spPr>
        </p:pic>
        <p:pic>
          <p:nvPicPr>
            <p:cNvPr id="143" name="Google Shape;143;p4" descr="Uma imagem com desenho, clipart, ilustração, Desenho animado&#10;&#10;Os conteúdos gerados por IA podem estar incorretos."/>
            <p:cNvPicPr preferRelativeResize="0"/>
            <p:nvPr/>
          </p:nvPicPr>
          <p:blipFill rotWithShape="1">
            <a:blip r:embed="rId3">
              <a:alphaModFix/>
            </a:blip>
            <a:srcRect/>
            <a:stretch/>
          </p:blipFill>
          <p:spPr>
            <a:xfrm>
              <a:off x="1229708" y="2939315"/>
              <a:ext cx="320824" cy="320824"/>
            </a:xfrm>
            <a:prstGeom prst="rect">
              <a:avLst/>
            </a:prstGeom>
            <a:noFill/>
            <a:ln>
              <a:noFill/>
            </a:ln>
          </p:spPr>
        </p:pic>
        <p:pic>
          <p:nvPicPr>
            <p:cNvPr id="144" name="Google Shape;144;p4" descr="Uma imagem com desenho, clipart, ilustração, Desenho animado&#10;&#10;Os conteúdos gerados por IA podem estar incorretos."/>
            <p:cNvPicPr preferRelativeResize="0"/>
            <p:nvPr/>
          </p:nvPicPr>
          <p:blipFill rotWithShape="1">
            <a:blip r:embed="rId3">
              <a:alphaModFix/>
            </a:blip>
            <a:srcRect/>
            <a:stretch/>
          </p:blipFill>
          <p:spPr>
            <a:xfrm>
              <a:off x="2398370" y="2434453"/>
              <a:ext cx="320824" cy="320824"/>
            </a:xfrm>
            <a:prstGeom prst="rect">
              <a:avLst/>
            </a:prstGeom>
            <a:noFill/>
            <a:ln>
              <a:noFill/>
            </a:ln>
          </p:spPr>
        </p:pic>
      </p:grpSp>
      <p:sp>
        <p:nvSpPr>
          <p:cNvPr id="145" name="Google Shape;145;p4"/>
          <p:cNvSpPr/>
          <p:nvPr/>
        </p:nvSpPr>
        <p:spPr>
          <a:xfrm>
            <a:off x="293030" y="904951"/>
            <a:ext cx="8784976"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O “</a:t>
            </a:r>
            <a:r>
              <a:rPr lang="pt-PT">
                <a:solidFill>
                  <a:schemeClr val="dk1"/>
                </a:solidFill>
                <a:latin typeface="Calibri"/>
                <a:ea typeface="Calibri"/>
                <a:cs typeface="Calibri"/>
                <a:sym typeface="Calibri"/>
              </a:rPr>
              <a:t>simulador</a:t>
            </a:r>
            <a:r>
              <a:rPr lang="pt-PT" sz="1400">
                <a:solidFill>
                  <a:schemeClr val="dk1"/>
                </a:solidFill>
                <a:latin typeface="Calibri"/>
                <a:ea typeface="Calibri"/>
                <a:cs typeface="Calibri"/>
                <a:sym typeface="Calibri"/>
              </a:rPr>
              <a:t>” inicia com a largada dos marsamis nas salas (distribuídos pelas salas)</a:t>
            </a:r>
            <a:endParaRPr/>
          </a:p>
          <a:p>
            <a:pPr marL="0" marR="0" lvl="0" indent="0" algn="l" rtl="0">
              <a:spcBef>
                <a:spcPts val="0"/>
              </a:spcBef>
              <a:spcAft>
                <a:spcPts val="0"/>
              </a:spcAft>
              <a:buNone/>
            </a:pPr>
            <a:r>
              <a:rPr lang="pt-PT" sz="1400">
                <a:solidFill>
                  <a:schemeClr val="dk1"/>
                </a:solidFill>
                <a:latin typeface="Calibri"/>
                <a:ea typeface="Calibri"/>
                <a:cs typeface="Calibri"/>
                <a:sym typeface="Calibri"/>
              </a:rPr>
              <a:t>O “</a:t>
            </a:r>
            <a:r>
              <a:rPr lang="pt-PT">
                <a:solidFill>
                  <a:schemeClr val="dk1"/>
                </a:solidFill>
                <a:latin typeface="Calibri"/>
                <a:ea typeface="Calibri"/>
                <a:cs typeface="Calibri"/>
                <a:sym typeface="Calibri"/>
              </a:rPr>
              <a:t>simulador</a:t>
            </a:r>
            <a:r>
              <a:rPr lang="pt-PT" sz="1400">
                <a:solidFill>
                  <a:schemeClr val="dk1"/>
                </a:solidFill>
                <a:latin typeface="Calibri"/>
                <a:ea typeface="Calibri"/>
                <a:cs typeface="Calibri"/>
                <a:sym typeface="Calibri"/>
              </a:rPr>
              <a:t>” termina quando uma das seguintes situações ocorre:</a:t>
            </a:r>
            <a:endParaRPr/>
          </a:p>
          <a:p>
            <a:pPr marL="742950" marR="0" lvl="1" indent="-285750" algn="l" rtl="0">
              <a:spcBef>
                <a:spcPts val="0"/>
              </a:spcBef>
              <a:spcAft>
                <a:spcPts val="0"/>
              </a:spcAft>
              <a:buClr>
                <a:schemeClr val="dk1"/>
              </a:buClr>
              <a:buSzPts val="1400"/>
              <a:buFont typeface="Arial"/>
              <a:buChar char="•"/>
            </a:pPr>
            <a:r>
              <a:rPr lang="pt-PT" sz="1400" b="0" i="0" u="none" strike="noStrike" cap="none">
                <a:solidFill>
                  <a:schemeClr val="dk1"/>
                </a:solidFill>
                <a:latin typeface="Calibri"/>
                <a:ea typeface="Calibri"/>
                <a:cs typeface="Calibri"/>
                <a:sym typeface="Calibri"/>
              </a:rPr>
              <a:t>Foi atingido o limite de temperatura ou ruído;</a:t>
            </a:r>
            <a:endParaRPr/>
          </a:p>
          <a:p>
            <a:pPr marL="742950" marR="0" lvl="1" indent="-285750" algn="l" rtl="0">
              <a:spcBef>
                <a:spcPts val="0"/>
              </a:spcBef>
              <a:spcAft>
                <a:spcPts val="0"/>
              </a:spcAft>
              <a:buClr>
                <a:schemeClr val="dk1"/>
              </a:buClr>
              <a:buSzPts val="1400"/>
              <a:buFont typeface="Arial"/>
              <a:buChar char="•"/>
            </a:pPr>
            <a:r>
              <a:rPr lang="pt-PT" sz="1400" b="0" i="0" u="none" strike="noStrike" cap="none">
                <a:solidFill>
                  <a:schemeClr val="dk1"/>
                </a:solidFill>
                <a:latin typeface="Calibri"/>
                <a:ea typeface="Calibri"/>
                <a:cs typeface="Calibri"/>
                <a:sym typeface="Calibri"/>
              </a:rPr>
              <a:t>Decorreu um determinado período de tempo (pré definido pelo servidor) sem que nenhum marsami se </a:t>
            </a:r>
            <a:r>
              <a:rPr lang="pt-PT">
                <a:solidFill>
                  <a:schemeClr val="dk1"/>
                </a:solidFill>
                <a:latin typeface="Calibri"/>
                <a:ea typeface="Calibri"/>
                <a:cs typeface="Calibri"/>
                <a:sym typeface="Calibri"/>
              </a:rPr>
              <a:t>mova </a:t>
            </a:r>
            <a:r>
              <a:rPr lang="pt-PT" sz="1400" b="0" i="0" u="none" strike="noStrike" cap="none">
                <a:solidFill>
                  <a:schemeClr val="dk1"/>
                </a:solidFill>
                <a:latin typeface="Calibri"/>
                <a:ea typeface="Calibri"/>
                <a:cs typeface="Calibri"/>
                <a:sym typeface="Calibri"/>
              </a:rPr>
              <a:t>(estão todos “cansados”, ver mais adiante status das mensagens “Cansado”).</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6" name="Google Shape;146;p4"/>
          <p:cNvSpPr/>
          <p:nvPr/>
        </p:nvSpPr>
        <p:spPr>
          <a:xfrm>
            <a:off x="179512" y="2229792"/>
            <a:ext cx="8784976"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O jogador (software) pretende maximizar o número de pontos, sendo que pode obter pontos de duas formas:</a:t>
            </a:r>
            <a:endParaRPr/>
          </a:p>
          <a:p>
            <a:pPr marL="342900" marR="0" lvl="0" indent="-342900" algn="l" rtl="0">
              <a:spcBef>
                <a:spcPts val="0"/>
              </a:spcBef>
              <a:spcAft>
                <a:spcPts val="0"/>
              </a:spcAft>
              <a:buClr>
                <a:schemeClr val="dk1"/>
              </a:buClr>
              <a:buSzPts val="1400"/>
              <a:buFont typeface="Calibri"/>
              <a:buAutoNum type="alphaLcParenR"/>
            </a:pPr>
            <a:r>
              <a:rPr lang="pt-PT" sz="1400">
                <a:solidFill>
                  <a:schemeClr val="dk1"/>
                </a:solidFill>
                <a:latin typeface="Calibri"/>
                <a:ea typeface="Calibri"/>
                <a:cs typeface="Calibri"/>
                <a:sym typeface="Calibri"/>
              </a:rPr>
              <a:t>Quando terminar o </a:t>
            </a:r>
            <a:r>
              <a:rPr lang="pt-PT">
                <a:solidFill>
                  <a:schemeClr val="dk1"/>
                </a:solidFill>
                <a:latin typeface="Calibri"/>
                <a:ea typeface="Calibri"/>
                <a:cs typeface="Calibri"/>
                <a:sym typeface="Calibri"/>
              </a:rPr>
              <a:t>simulador, </a:t>
            </a:r>
            <a:r>
              <a:rPr lang="pt-PT" sz="1400">
                <a:solidFill>
                  <a:schemeClr val="dk1"/>
                </a:solidFill>
                <a:latin typeface="Calibri"/>
                <a:ea typeface="Calibri"/>
                <a:cs typeface="Calibri"/>
                <a:sym typeface="Calibri"/>
              </a:rPr>
              <a:t>determinar com exatidão quantos marsamis estão em cada sala;</a:t>
            </a:r>
            <a:endParaRPr/>
          </a:p>
          <a:p>
            <a:pPr marL="342900" marR="0" lvl="0" indent="-342900" algn="l" rtl="0">
              <a:spcBef>
                <a:spcPts val="0"/>
              </a:spcBef>
              <a:spcAft>
                <a:spcPts val="0"/>
              </a:spcAft>
              <a:buClr>
                <a:schemeClr val="dk1"/>
              </a:buClr>
              <a:buSzPts val="1400"/>
              <a:buFont typeface="Calibri"/>
              <a:buAutoNum type="alphaLcParenR"/>
            </a:pPr>
            <a:r>
              <a:rPr lang="pt-PT" sz="1400">
                <a:solidFill>
                  <a:schemeClr val="dk1"/>
                </a:solidFill>
                <a:latin typeface="Calibri"/>
                <a:ea typeface="Calibri"/>
                <a:cs typeface="Calibri"/>
                <a:sym typeface="Calibri"/>
              </a:rPr>
              <a:t>Conseguir, no decorrer d</a:t>
            </a:r>
            <a:r>
              <a:rPr lang="pt-PT">
                <a:solidFill>
                  <a:schemeClr val="dk1"/>
                </a:solidFill>
                <a:latin typeface="Calibri"/>
                <a:ea typeface="Calibri"/>
                <a:cs typeface="Calibri"/>
                <a:sym typeface="Calibri"/>
              </a:rPr>
              <a:t>a simlação</a:t>
            </a:r>
            <a:r>
              <a:rPr lang="pt-PT" sz="1400">
                <a:solidFill>
                  <a:schemeClr val="dk1"/>
                </a:solidFill>
                <a:latin typeface="Calibri"/>
                <a:ea typeface="Calibri"/>
                <a:cs typeface="Calibri"/>
                <a:sym typeface="Calibri"/>
              </a:rPr>
              <a:t>, em tempo real, identificar que, numa determinada sala num determinado instante, o número de marsamis “odd” e “even” são iguais.</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147" name="Google Shape;147;p4" descr="Python - Download free icons"/>
          <p:cNvPicPr preferRelativeResize="0"/>
          <p:nvPr/>
        </p:nvPicPr>
        <p:blipFill rotWithShape="1">
          <a:blip r:embed="rId4">
            <a:alphaModFix/>
          </a:blip>
          <a:srcRect/>
          <a:stretch/>
        </p:blipFill>
        <p:spPr>
          <a:xfrm>
            <a:off x="2898675" y="4115366"/>
            <a:ext cx="1162465" cy="1162465"/>
          </a:xfrm>
          <a:prstGeom prst="rect">
            <a:avLst/>
          </a:prstGeom>
          <a:noFill/>
          <a:ln>
            <a:noFill/>
          </a:ln>
        </p:spPr>
      </p:pic>
      <p:pic>
        <p:nvPicPr>
          <p:cNvPr id="148" name="Google Shape;148;p4" descr="Imagens Team Icon PNG e Vetor, com Fundo Transparente Para Download Grátis  | Pngtree"/>
          <p:cNvPicPr preferRelativeResize="0"/>
          <p:nvPr/>
        </p:nvPicPr>
        <p:blipFill rotWithShape="1">
          <a:blip r:embed="rId5">
            <a:alphaModFix/>
          </a:blip>
          <a:srcRect/>
          <a:stretch/>
        </p:blipFill>
        <p:spPr>
          <a:xfrm>
            <a:off x="324784" y="3903402"/>
            <a:ext cx="1434320" cy="1434320"/>
          </a:xfrm>
          <a:prstGeom prst="rect">
            <a:avLst/>
          </a:prstGeom>
          <a:noFill/>
          <a:ln>
            <a:noFill/>
          </a:ln>
        </p:spPr>
      </p:pic>
      <p:sp>
        <p:nvSpPr>
          <p:cNvPr id="149" name="Google Shape;149;p4"/>
          <p:cNvSpPr/>
          <p:nvPr/>
        </p:nvSpPr>
        <p:spPr>
          <a:xfrm>
            <a:off x="1538061" y="4706165"/>
            <a:ext cx="1753785"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Põe a “correr” o software (jogador)</a:t>
            </a:r>
            <a:endParaRPr/>
          </a:p>
          <a:p>
            <a:pPr marL="0" marR="0" lvl="0" indent="0" algn="l" rtl="0">
              <a:spcBef>
                <a:spcPts val="0"/>
              </a:spcBef>
              <a:spcAft>
                <a:spcPts val="0"/>
              </a:spcAft>
              <a:buNone/>
            </a:pPr>
            <a:endParaRPr sz="1000">
              <a:solidFill>
                <a:schemeClr val="dk1"/>
              </a:solidFill>
              <a:latin typeface="Calibri"/>
              <a:ea typeface="Calibri"/>
              <a:cs typeface="Calibri"/>
              <a:sym typeface="Calibri"/>
            </a:endParaRPr>
          </a:p>
        </p:txBody>
      </p:sp>
      <p:sp>
        <p:nvSpPr>
          <p:cNvPr id="150" name="Google Shape;150;p4"/>
          <p:cNvSpPr/>
          <p:nvPr/>
        </p:nvSpPr>
        <p:spPr>
          <a:xfrm>
            <a:off x="455233" y="3722024"/>
            <a:ext cx="130898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Grupo (Equipe)</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51" name="Google Shape;151;p4"/>
          <p:cNvSpPr/>
          <p:nvPr/>
        </p:nvSpPr>
        <p:spPr>
          <a:xfrm>
            <a:off x="2794284" y="3808492"/>
            <a:ext cx="137124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Jogador(Software)</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cxnSp>
        <p:nvCxnSpPr>
          <p:cNvPr id="152" name="Google Shape;152;p4"/>
          <p:cNvCxnSpPr/>
          <p:nvPr/>
        </p:nvCxnSpPr>
        <p:spPr>
          <a:xfrm>
            <a:off x="1759104" y="4502097"/>
            <a:ext cx="1035180" cy="0"/>
          </a:xfrm>
          <a:prstGeom prst="straightConnector1">
            <a:avLst/>
          </a:prstGeom>
          <a:noFill/>
          <a:ln w="9525" cap="flat" cmpd="sng">
            <a:solidFill>
              <a:srgbClr val="4A7DBA"/>
            </a:solidFill>
            <a:prstDash val="solid"/>
            <a:round/>
            <a:headEnd type="none" w="sm" len="sm"/>
            <a:tailEnd type="triangle" w="med" len="med"/>
          </a:ln>
        </p:spPr>
      </p:cxnSp>
      <p:cxnSp>
        <p:nvCxnSpPr>
          <p:cNvPr id="153" name="Google Shape;153;p4"/>
          <p:cNvCxnSpPr/>
          <p:nvPr/>
        </p:nvCxnSpPr>
        <p:spPr>
          <a:xfrm flipH="1">
            <a:off x="4008537" y="4115193"/>
            <a:ext cx="2033574" cy="194734"/>
          </a:xfrm>
          <a:prstGeom prst="straightConnector1">
            <a:avLst/>
          </a:prstGeom>
          <a:noFill/>
          <a:ln w="9525" cap="flat" cmpd="sng">
            <a:solidFill>
              <a:srgbClr val="4A7DBA"/>
            </a:solidFill>
            <a:prstDash val="solid"/>
            <a:round/>
            <a:headEnd type="none" w="sm" len="sm"/>
            <a:tailEnd type="triangle" w="med" len="med"/>
          </a:ln>
        </p:spPr>
      </p:cxnSp>
      <p:cxnSp>
        <p:nvCxnSpPr>
          <p:cNvPr id="154" name="Google Shape;154;p4"/>
          <p:cNvCxnSpPr/>
          <p:nvPr/>
        </p:nvCxnSpPr>
        <p:spPr>
          <a:xfrm>
            <a:off x="4063341" y="4652299"/>
            <a:ext cx="1698969" cy="47997"/>
          </a:xfrm>
          <a:prstGeom prst="straightConnector1">
            <a:avLst/>
          </a:prstGeom>
          <a:noFill/>
          <a:ln w="9525" cap="flat" cmpd="sng">
            <a:solidFill>
              <a:srgbClr val="4A7DBA"/>
            </a:solidFill>
            <a:prstDash val="solid"/>
            <a:round/>
            <a:headEnd type="none" w="sm" len="sm"/>
            <a:tailEnd type="triangle" w="med" len="med"/>
          </a:ln>
        </p:spPr>
      </p:cxnSp>
      <p:sp>
        <p:nvSpPr>
          <p:cNvPr id="155" name="Google Shape;155;p4"/>
          <p:cNvSpPr/>
          <p:nvPr/>
        </p:nvSpPr>
        <p:spPr>
          <a:xfrm>
            <a:off x="4487286" y="3651816"/>
            <a:ext cx="202707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Recebe dados de sensores</a:t>
            </a:r>
            <a:endParaRPr/>
          </a:p>
          <a:p>
            <a:pPr marL="0" marR="0" lvl="0" indent="0" algn="l" rtl="0">
              <a:spcBef>
                <a:spcPts val="0"/>
              </a:spcBef>
              <a:spcAft>
                <a:spcPts val="0"/>
              </a:spcAft>
              <a:buNone/>
            </a:pPr>
            <a:r>
              <a:rPr lang="pt-PT" sz="1000">
                <a:solidFill>
                  <a:schemeClr val="dk1"/>
                </a:solidFill>
                <a:latin typeface="Calibri"/>
                <a:ea typeface="Calibri"/>
                <a:cs typeface="Calibri"/>
                <a:sym typeface="Calibri"/>
              </a:rPr>
              <a:t>(ruído, Temperatura e pesagens por corredores)</a:t>
            </a:r>
            <a:endParaRPr/>
          </a:p>
          <a:p>
            <a:pPr marL="0" marR="0" lvl="0" indent="0" algn="l" rtl="0">
              <a:spcBef>
                <a:spcPts val="0"/>
              </a:spcBef>
              <a:spcAft>
                <a:spcPts val="0"/>
              </a:spcAft>
              <a:buNone/>
            </a:pPr>
            <a:endParaRPr sz="1000">
              <a:solidFill>
                <a:schemeClr val="dk1"/>
              </a:solidFill>
              <a:latin typeface="Calibri"/>
              <a:ea typeface="Calibri"/>
              <a:cs typeface="Calibri"/>
              <a:sym typeface="Calibri"/>
            </a:endParaRPr>
          </a:p>
        </p:txBody>
      </p:sp>
      <p:sp>
        <p:nvSpPr>
          <p:cNvPr id="156" name="Google Shape;156;p4"/>
          <p:cNvSpPr/>
          <p:nvPr/>
        </p:nvSpPr>
        <p:spPr>
          <a:xfrm>
            <a:off x="4159219" y="4374341"/>
            <a:ext cx="2639721"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Abre e fecha corredores e ar condicionado</a:t>
            </a:r>
            <a:endParaRPr/>
          </a:p>
        </p:txBody>
      </p:sp>
      <p:cxnSp>
        <p:nvCxnSpPr>
          <p:cNvPr id="157" name="Google Shape;157;p4"/>
          <p:cNvCxnSpPr/>
          <p:nvPr/>
        </p:nvCxnSpPr>
        <p:spPr>
          <a:xfrm>
            <a:off x="3516026" y="5249054"/>
            <a:ext cx="11806" cy="643993"/>
          </a:xfrm>
          <a:prstGeom prst="straightConnector1">
            <a:avLst/>
          </a:prstGeom>
          <a:noFill/>
          <a:ln w="9525" cap="flat" cmpd="sng">
            <a:solidFill>
              <a:srgbClr val="4A7DBA"/>
            </a:solidFill>
            <a:prstDash val="solid"/>
            <a:round/>
            <a:headEnd type="none" w="sm" len="sm"/>
            <a:tailEnd type="triangle" w="med" len="med"/>
          </a:ln>
        </p:spPr>
      </p:cxnSp>
      <p:sp>
        <p:nvSpPr>
          <p:cNvPr id="158" name="Google Shape;158;p4"/>
          <p:cNvSpPr/>
          <p:nvPr/>
        </p:nvSpPr>
        <p:spPr>
          <a:xfrm>
            <a:off x="3505112" y="5606034"/>
            <a:ext cx="1614431"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Gere bases de dados</a:t>
            </a:r>
            <a:endParaRPr/>
          </a:p>
        </p:txBody>
      </p:sp>
      <p:sp>
        <p:nvSpPr>
          <p:cNvPr id="159" name="Google Shape;159;p4"/>
          <p:cNvSpPr/>
          <p:nvPr/>
        </p:nvSpPr>
        <p:spPr>
          <a:xfrm>
            <a:off x="3907201" y="5091501"/>
            <a:ext cx="2287646"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Identifica “odd” = “Even” (gatilho)</a:t>
            </a:r>
            <a:endParaRPr/>
          </a:p>
        </p:txBody>
      </p:sp>
      <p:cxnSp>
        <p:nvCxnSpPr>
          <p:cNvPr id="160" name="Google Shape;160;p4"/>
          <p:cNvCxnSpPr/>
          <p:nvPr/>
        </p:nvCxnSpPr>
        <p:spPr>
          <a:xfrm rot="10800000" flipH="1">
            <a:off x="4028646" y="5022368"/>
            <a:ext cx="1733664" cy="8543"/>
          </a:xfrm>
          <a:prstGeom prst="straightConnector1">
            <a:avLst/>
          </a:prstGeom>
          <a:noFill/>
          <a:ln w="9525" cap="flat" cmpd="sng">
            <a:solidFill>
              <a:srgbClr val="4A7DBA"/>
            </a:solidFill>
            <a:prstDash val="solid"/>
            <a:round/>
            <a:headEnd type="none" w="sm" len="sm"/>
            <a:tailEnd type="triangle" w="med" len="med"/>
          </a:ln>
        </p:spPr>
      </p:cxnSp>
      <p:pic>
        <p:nvPicPr>
          <p:cNvPr id="161" name="Google Shape;161;p4" descr="Free Icon | Smartphone"/>
          <p:cNvPicPr preferRelativeResize="0"/>
          <p:nvPr/>
        </p:nvPicPr>
        <p:blipFill rotWithShape="1">
          <a:blip r:embed="rId6">
            <a:alphaModFix/>
          </a:blip>
          <a:srcRect/>
          <a:stretch/>
        </p:blipFill>
        <p:spPr>
          <a:xfrm>
            <a:off x="2298076" y="5666746"/>
            <a:ext cx="585495" cy="585495"/>
          </a:xfrm>
          <a:prstGeom prst="rect">
            <a:avLst/>
          </a:prstGeom>
          <a:noFill/>
          <a:ln>
            <a:noFill/>
          </a:ln>
        </p:spPr>
      </p:pic>
      <p:cxnSp>
        <p:nvCxnSpPr>
          <p:cNvPr id="162" name="Google Shape;162;p4"/>
          <p:cNvCxnSpPr/>
          <p:nvPr/>
        </p:nvCxnSpPr>
        <p:spPr>
          <a:xfrm rot="10800000">
            <a:off x="1472985" y="5277831"/>
            <a:ext cx="814760" cy="518271"/>
          </a:xfrm>
          <a:prstGeom prst="straightConnector1">
            <a:avLst/>
          </a:prstGeom>
          <a:noFill/>
          <a:ln w="9525" cap="flat" cmpd="sng">
            <a:solidFill>
              <a:srgbClr val="4A7DBA"/>
            </a:solidFill>
            <a:prstDash val="solid"/>
            <a:round/>
            <a:headEnd type="none" w="sm" len="sm"/>
            <a:tailEnd type="triangle" w="med" len="med"/>
          </a:ln>
        </p:spPr>
      </p:cxnSp>
      <p:pic>
        <p:nvPicPr>
          <p:cNvPr id="163" name="Google Shape;163;p4" descr="https://encrypted-tbn0.gstatic.com/images?q=tbn:ANd9GcRBY1D0nbu-zLYqNeeNI48c_paOksZJsMKQp2cYkmfNNcFCj5iY"/>
          <p:cNvPicPr preferRelativeResize="0"/>
          <p:nvPr/>
        </p:nvPicPr>
        <p:blipFill rotWithShape="1">
          <a:blip r:embed="rId7">
            <a:alphaModFix/>
          </a:blip>
          <a:srcRect/>
          <a:stretch/>
        </p:blipFill>
        <p:spPr>
          <a:xfrm>
            <a:off x="3227619" y="6002566"/>
            <a:ext cx="392850" cy="392850"/>
          </a:xfrm>
          <a:prstGeom prst="rect">
            <a:avLst/>
          </a:prstGeom>
          <a:noFill/>
          <a:ln>
            <a:noFill/>
          </a:ln>
        </p:spPr>
      </p:pic>
      <p:cxnSp>
        <p:nvCxnSpPr>
          <p:cNvPr id="164" name="Google Shape;164;p4"/>
          <p:cNvCxnSpPr/>
          <p:nvPr/>
        </p:nvCxnSpPr>
        <p:spPr>
          <a:xfrm rot="10800000">
            <a:off x="2794284" y="6042898"/>
            <a:ext cx="306449" cy="91335"/>
          </a:xfrm>
          <a:prstGeom prst="straightConnector1">
            <a:avLst/>
          </a:prstGeom>
          <a:noFill/>
          <a:ln w="9525" cap="flat" cmpd="sng">
            <a:solidFill>
              <a:srgbClr val="4A7DBA"/>
            </a:solidFill>
            <a:prstDash val="solid"/>
            <a:round/>
            <a:headEnd type="none" w="sm" len="sm"/>
            <a:tailEnd type="triangle" w="med" len="med"/>
          </a:ln>
        </p:spPr>
      </p:cxnSp>
      <p:sp>
        <p:nvSpPr>
          <p:cNvPr id="165" name="Google Shape;165;p4"/>
          <p:cNvSpPr/>
          <p:nvPr/>
        </p:nvSpPr>
        <p:spPr>
          <a:xfrm>
            <a:off x="1005453" y="5635230"/>
            <a:ext cx="1021747"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Monitoriza</a:t>
            </a:r>
            <a:endParaRPr/>
          </a:p>
        </p:txBody>
      </p:sp>
      <p:sp>
        <p:nvSpPr>
          <p:cNvPr id="166" name="Google Shape;166;p4"/>
          <p:cNvSpPr/>
          <p:nvPr/>
        </p:nvSpPr>
        <p:spPr>
          <a:xfrm>
            <a:off x="158245" y="6520837"/>
            <a:ext cx="373791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Cada jogador é identificado pelo ID da equipe (inteiro)</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5"/>
          <p:cNvSpPr/>
          <p:nvPr/>
        </p:nvSpPr>
        <p:spPr>
          <a:xfrm>
            <a:off x="251520" y="260648"/>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Especificação</a:t>
            </a:r>
            <a:endParaRPr sz="1200">
              <a:solidFill>
                <a:schemeClr val="dk1"/>
              </a:solidFill>
              <a:latin typeface="Calibri"/>
              <a:ea typeface="Calibri"/>
              <a:cs typeface="Calibri"/>
              <a:sym typeface="Calibri"/>
            </a:endParaRPr>
          </a:p>
        </p:txBody>
      </p:sp>
      <p:sp>
        <p:nvSpPr>
          <p:cNvPr id="172" name="Google Shape;172;p5"/>
          <p:cNvSpPr/>
          <p:nvPr/>
        </p:nvSpPr>
        <p:spPr>
          <a:xfrm>
            <a:off x="247727" y="1225689"/>
            <a:ext cx="8208912"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Está instalado um labirinto composto por salas unidas por corredores. No labirinto circulam marsamis. Existem sensores que detetam quando um marsami entra numa sala (vindo de um corredor) e sai de uma sala (indo para um corredor). Também existe um sensor de ruído que transmite o nível de ruído no labirinto no momento, e outro que transmite a temperatura. Para além de sensores que enviam informação, existem atuadores (atuam em função da informação que recebem) que permitem fechar e abrir os corredores das salas (impedindo os marsamis de circular) e ligar e desligar o ar condicionado.</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Periodicamente são efetuadas “largadas” de marsamis. Cada marsami é colocado numa sala e, estes, por instinto natural, deslocam-se sempre entre salas até que o cansaço os faça parar (sobre o cansaço ver informação mais adiante) O objetivo é, no final de uma largada (quando eles estão todos quietos) cada jogador saber quantos ficaram em cada sala. Mas existem dois tipos de marsamis, “odd” e “even”. No final é necessário saber quantos “odd” e quantos “even” ficarem em cada sala. </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Cada jogador, ao detetar que num determinado momento, numa sala, o número de “odds” é igual ao número de “evens”, pode acionar um “gatilho”. Se este “gatilho” for acionado antes que o equilíbrio entre “odds” e “evens” de desfaça, ganha 1 ponto, caso contrário perde meio ponto. Inicialmente todos os jogadores têm 0 pontos. Cada gatilho só pode ser accionado até 3 vezes por sala.</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Cada jogador pode recorrer aos atuadores para fechar (ou abrir) um corredor ou, com apenas uma só acção fechar (ou abrir) todos os corredores em simultâneo. Note-se que se os corredores estiverem todos fechados os marsamis não se movem. Inicialmente os corredores estão todos abertos. Cada jogador pode ligar (diminui incrementalmente a temperatura da sala) ou desligar o ar condicionado do labirinto.</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Se o nível de ruído e/ou temperatura exceder um certo limite, de forma a reduzir o ruído e/ou temperatura todas os corredores são automaticamente fechados e acaba a simulação. O jogador não pode voltar a abrir os corredores.  O ruído aumenta proporcionalmente ao número de movimentos de marsamis. Se, por exemplo, alguns corredores forem fechados (fazendo diminuir o número de movimentos de ruído), o nível de ruído reduz-se.</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Cada corredor une duas salas apenas. Vários corredores podem ir dar a uma mesma sala. O mecanismo que liga a sala ao corredor apenas permite que os marsamis circulem num sentido. Sempre que um marsami “entra” ou “sai” de uma sala é activado um sensor de passagem e não é possível dois marsamis saírem ou entrarem em conjunto (garante-se que uma ativação do sensor é para apenas um marsami).  </a:t>
            </a:r>
            <a:endParaRPr/>
          </a:p>
        </p:txBody>
      </p:sp>
      <p:sp>
        <p:nvSpPr>
          <p:cNvPr id="173" name="Google Shape;173;p5"/>
          <p:cNvSpPr/>
          <p:nvPr/>
        </p:nvSpPr>
        <p:spPr>
          <a:xfrm>
            <a:off x="107504" y="844140"/>
            <a:ext cx="208823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Descrição Geral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6"/>
          <p:cNvSpPr/>
          <p:nvPr/>
        </p:nvSpPr>
        <p:spPr>
          <a:xfrm>
            <a:off x="251520" y="260648"/>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Especificação (cont)</a:t>
            </a:r>
            <a:endParaRPr sz="1200">
              <a:solidFill>
                <a:schemeClr val="dk1"/>
              </a:solidFill>
              <a:latin typeface="Calibri"/>
              <a:ea typeface="Calibri"/>
              <a:cs typeface="Calibri"/>
              <a:sym typeface="Calibri"/>
            </a:endParaRPr>
          </a:p>
        </p:txBody>
      </p:sp>
      <p:sp>
        <p:nvSpPr>
          <p:cNvPr id="179" name="Google Shape;179;p6"/>
          <p:cNvSpPr/>
          <p:nvPr/>
        </p:nvSpPr>
        <p:spPr>
          <a:xfrm>
            <a:off x="300220" y="681955"/>
            <a:ext cx="8208912"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No início de cada largada os marsamis são distribuídos aleatoriamente por todas as salas. Posteriormente eles deslocam-se aleatoriamente pelos corredores que lhes estão acessíveis. Cada jogador tem o seu próprio labirinto, e no início a planta do labirinto é igual para todos os jogadores. Mas como os jogadores podem abrir e fechar corredores, as plantas vão divergindo de jogador para jogador. Sempre que um marsami atravessa um corredor a informação enviada pelo sensor está exemplificada nas seguintes duas mensagens :</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200" b="1">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“o marsami 40 ´passou através de um corredor que o fez sair da sala 3 e entrar na sala 5”.  O Player 10 colocado na mensagem serve para identificar o Jogador/Labirinto. O Status 1 não é gerado pelo sensor , é uma informação adicional colocada na mensagem para indicar que foi uma passagem “sem incidentes”.</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Quando a sala de origem é “0” significa que estamos perante a largada inicial do marsami, ou seja, ele foi colocado na sala 3 no início da largada. Se quer a sala de Origem e a de Destino têm o valor 0, isso significa que o marsami está “preso” numa sala (última sala onde entrou), não pode sair (ou porque não tem nenhum corredor por onde sair – Status = 0 – ou por cansaço – Status = 2).</a:t>
            </a:r>
            <a:endParaRPr/>
          </a:p>
          <a:p>
            <a:pPr marL="0" marR="0" lvl="0" indent="0" algn="l" rtl="0">
              <a:spcBef>
                <a:spcPts val="0"/>
              </a:spcBef>
              <a:spcAft>
                <a:spcPts val="0"/>
              </a:spcAft>
              <a:buNone/>
            </a:pPr>
            <a:endParaRPr sz="1200" b="1">
              <a:solidFill>
                <a:schemeClr val="dk1"/>
              </a:solidFill>
              <a:latin typeface="Calibri"/>
              <a:ea typeface="Calibri"/>
              <a:cs typeface="Calibri"/>
              <a:sym typeface="Calibri"/>
            </a:endParaRPr>
          </a:p>
          <a:p>
            <a:pPr marL="0" marR="0" lvl="0" indent="0" algn="l" rtl="0">
              <a:spcBef>
                <a:spcPts val="0"/>
              </a:spcBef>
              <a:spcAft>
                <a:spcPts val="0"/>
              </a:spcAft>
              <a:buNone/>
            </a:pPr>
            <a:r>
              <a:rPr lang="pt-PT" sz="1200" b="1">
                <a:solidFill>
                  <a:schemeClr val="dk1"/>
                </a:solidFill>
                <a:latin typeface="Calibri"/>
                <a:ea typeface="Calibri"/>
                <a:cs typeface="Calibri"/>
                <a:sym typeface="Calibri"/>
              </a:rPr>
              <a:t>Utilizadores</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Existe um administrador da aplicação (não confundir com o administrador da base de dados) que cria e apaga utilizadores /equipes. Ele terá acesso a formulários próprios HTML/php que executarão procedimentos SQL. Estes formulários não são para implementar. As equipes (conjunto de utilizadores da mesma equipe) podem fazer a manutenção das simulações também através de formulários HTML/php. A manutenção consiste em criar e iniciar simulações e, para cada simulação, poder editar os parâmetros que achem relevantes criar na tabela simulação (ou em outras tabelas que decidam criar). Qualquer utilizador de uma equipe pode criar e iniciar uma simulação, mas apenas quem criou a simulação pode alterar. Apenas um utilizador pode alterar os seus dados pessoais.</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As migrações das leituras dos sensores do MongoDB para o Mysql são feitas automaticamente e em tempo real mas, em caso de falha, o administrador da aplicação terá de ter uma forma de reinicializar o processo de migração  (por exemplo, chamar um procedimento SQL ou um programa Java/Python/php).</a:t>
            </a:r>
            <a:endParaRPr/>
          </a:p>
        </p:txBody>
      </p:sp>
      <p:sp>
        <p:nvSpPr>
          <p:cNvPr id="180" name="Google Shape;180;p6"/>
          <p:cNvSpPr/>
          <p:nvPr/>
        </p:nvSpPr>
        <p:spPr>
          <a:xfrm>
            <a:off x="251520" y="5880664"/>
            <a:ext cx="820891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b="1">
                <a:solidFill>
                  <a:schemeClr val="dk1"/>
                </a:solidFill>
                <a:latin typeface="Calibri"/>
                <a:ea typeface="Calibri"/>
                <a:cs typeface="Calibri"/>
                <a:sym typeface="Calibri"/>
              </a:rPr>
              <a:t>Telemóvel Android</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Cada equipe deverá ter a possibilidade de, através de um telemóvel, monitorizar através de um gráfico a evolução do número de marsamis por sala, receber eventuais alertas de perigo de excesso de ruído e/ou temperatura., e visualizar graficamente a evolução da temperatura e ruído.</a:t>
            </a:r>
            <a:endParaRPr/>
          </a:p>
        </p:txBody>
      </p:sp>
      <p:sp>
        <p:nvSpPr>
          <p:cNvPr id="181" name="Google Shape;181;p6"/>
          <p:cNvSpPr txBox="1"/>
          <p:nvPr/>
        </p:nvSpPr>
        <p:spPr>
          <a:xfrm>
            <a:off x="539552" y="1673706"/>
            <a:ext cx="676875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200" i="1">
              <a:solidFill>
                <a:schemeClr val="dk1"/>
              </a:solidFill>
              <a:latin typeface="Calibri"/>
              <a:ea typeface="Calibri"/>
              <a:cs typeface="Calibri"/>
              <a:sym typeface="Calibri"/>
            </a:endParaRPr>
          </a:p>
          <a:p>
            <a:pPr marL="0" marR="0" lvl="0" indent="0" algn="l" rtl="0">
              <a:spcBef>
                <a:spcPts val="0"/>
              </a:spcBef>
              <a:spcAft>
                <a:spcPts val="0"/>
              </a:spcAft>
              <a:buNone/>
            </a:pPr>
            <a:r>
              <a:rPr lang="pt-PT" sz="1200" i="1">
                <a:solidFill>
                  <a:schemeClr val="dk1"/>
                </a:solidFill>
                <a:latin typeface="Calibri"/>
                <a:ea typeface="Calibri"/>
                <a:cs typeface="Calibri"/>
                <a:sym typeface="Calibri"/>
              </a:rPr>
              <a:t>{Player:10, Marsami:40, RoomOrigin:3, RoomDestiny: 5, Status:1}</a:t>
            </a:r>
            <a:endParaRPr/>
          </a:p>
        </p:txBody>
      </p:sp>
      <p:sp>
        <p:nvSpPr>
          <p:cNvPr id="182" name="Google Shape;182;p6"/>
          <p:cNvSpPr txBox="1"/>
          <p:nvPr/>
        </p:nvSpPr>
        <p:spPr>
          <a:xfrm>
            <a:off x="634868" y="2657953"/>
            <a:ext cx="676875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200" i="1">
              <a:solidFill>
                <a:schemeClr val="dk1"/>
              </a:solidFill>
              <a:latin typeface="Calibri"/>
              <a:ea typeface="Calibri"/>
              <a:cs typeface="Calibri"/>
              <a:sym typeface="Calibri"/>
            </a:endParaRPr>
          </a:p>
          <a:p>
            <a:pPr marL="0" marR="0" lvl="0" indent="0" algn="l" rtl="0">
              <a:spcBef>
                <a:spcPts val="0"/>
              </a:spcBef>
              <a:spcAft>
                <a:spcPts val="0"/>
              </a:spcAft>
              <a:buNone/>
            </a:pPr>
            <a:r>
              <a:rPr lang="pt-PT" sz="1200" i="1">
                <a:solidFill>
                  <a:schemeClr val="dk1"/>
                </a:solidFill>
                <a:latin typeface="Calibri"/>
                <a:ea typeface="Calibri"/>
                <a:cs typeface="Calibri"/>
                <a:sym typeface="Calibri"/>
              </a:rPr>
              <a:t>{Player:5, Marsami:40, RoomOrigin:0, RoomDestiny: 3, Status:1}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87" name="Google Shape;187;p7"/>
          <p:cNvGrpSpPr/>
          <p:nvPr/>
        </p:nvGrpSpPr>
        <p:grpSpPr>
          <a:xfrm>
            <a:off x="1163950" y="-573839"/>
            <a:ext cx="5757586" cy="4198072"/>
            <a:chOff x="539552" y="1196752"/>
            <a:chExt cx="7272808" cy="4896544"/>
          </a:xfrm>
        </p:grpSpPr>
        <p:pic>
          <p:nvPicPr>
            <p:cNvPr id="188" name="Google Shape;188;p7" descr="Cloud Icon - Free Download, PNG and Vector"/>
            <p:cNvPicPr preferRelativeResize="0"/>
            <p:nvPr/>
          </p:nvPicPr>
          <p:blipFill rotWithShape="1">
            <a:blip r:embed="rId3">
              <a:alphaModFix/>
            </a:blip>
            <a:srcRect/>
            <a:stretch/>
          </p:blipFill>
          <p:spPr>
            <a:xfrm>
              <a:off x="539552" y="1196752"/>
              <a:ext cx="7272808" cy="4896544"/>
            </a:xfrm>
            <a:prstGeom prst="rect">
              <a:avLst/>
            </a:prstGeom>
            <a:noFill/>
            <a:ln>
              <a:noFill/>
            </a:ln>
          </p:spPr>
        </p:pic>
        <p:grpSp>
          <p:nvGrpSpPr>
            <p:cNvPr id="189" name="Google Shape;189;p7"/>
            <p:cNvGrpSpPr/>
            <p:nvPr/>
          </p:nvGrpSpPr>
          <p:grpSpPr>
            <a:xfrm>
              <a:off x="1486885" y="3284984"/>
              <a:ext cx="1879371" cy="837360"/>
              <a:chOff x="228048" y="987344"/>
              <a:chExt cx="2197813" cy="1165002"/>
            </a:xfrm>
          </p:grpSpPr>
          <p:pic>
            <p:nvPicPr>
              <p:cNvPr id="190" name="Google Shape;190;p7" descr="Resultado de imagem para movement sensor"/>
              <p:cNvPicPr preferRelativeResize="0"/>
              <p:nvPr/>
            </p:nvPicPr>
            <p:blipFill rotWithShape="1">
              <a:blip r:embed="rId4">
                <a:alphaModFix/>
              </a:blip>
              <a:srcRect/>
              <a:stretch/>
            </p:blipFill>
            <p:spPr>
              <a:xfrm>
                <a:off x="742600" y="987344"/>
                <a:ext cx="589040" cy="353424"/>
              </a:xfrm>
              <a:prstGeom prst="rect">
                <a:avLst/>
              </a:prstGeom>
              <a:noFill/>
              <a:ln>
                <a:noFill/>
              </a:ln>
            </p:spPr>
          </p:pic>
          <p:sp>
            <p:nvSpPr>
              <p:cNvPr id="191" name="Google Shape;191;p7"/>
              <p:cNvSpPr/>
              <p:nvPr/>
            </p:nvSpPr>
            <p:spPr>
              <a:xfrm>
                <a:off x="228048" y="1340768"/>
                <a:ext cx="1460974" cy="4495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Ruído</a:t>
                </a:r>
                <a:endParaRPr/>
              </a:p>
            </p:txBody>
          </p:sp>
          <p:pic>
            <p:nvPicPr>
              <p:cNvPr id="192" name="Google Shape;192;p7" descr="Resultado de imagem para movement sensor"/>
              <p:cNvPicPr preferRelativeResize="0"/>
              <p:nvPr/>
            </p:nvPicPr>
            <p:blipFill rotWithShape="1">
              <a:blip r:embed="rId4">
                <a:alphaModFix/>
              </a:blip>
              <a:srcRect/>
              <a:stretch/>
            </p:blipFill>
            <p:spPr>
              <a:xfrm>
                <a:off x="1836821" y="1627206"/>
                <a:ext cx="589040" cy="525140"/>
              </a:xfrm>
              <a:prstGeom prst="rect">
                <a:avLst/>
              </a:prstGeom>
              <a:noFill/>
              <a:ln>
                <a:noFill/>
              </a:ln>
            </p:spPr>
          </p:pic>
        </p:grpSp>
      </p:grpSp>
      <p:sp>
        <p:nvSpPr>
          <p:cNvPr id="193" name="Google Shape;193;p7"/>
          <p:cNvSpPr/>
          <p:nvPr/>
        </p:nvSpPr>
        <p:spPr>
          <a:xfrm>
            <a:off x="-13323" y="21006"/>
            <a:ext cx="3183805"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Arquitectura</a:t>
            </a:r>
            <a:endParaRPr sz="3600">
              <a:solidFill>
                <a:schemeClr val="dk1"/>
              </a:solidFill>
              <a:latin typeface="Calibri"/>
              <a:ea typeface="Calibri"/>
              <a:cs typeface="Calibri"/>
              <a:sym typeface="Calibri"/>
            </a:endParaRPr>
          </a:p>
        </p:txBody>
      </p:sp>
      <p:sp>
        <p:nvSpPr>
          <p:cNvPr id="194" name="Google Shape;194;p7"/>
          <p:cNvSpPr/>
          <p:nvPr/>
        </p:nvSpPr>
        <p:spPr>
          <a:xfrm>
            <a:off x="777689" y="3891114"/>
            <a:ext cx="2337737" cy="1728192"/>
          </a:xfrm>
          <a:prstGeom prst="rect">
            <a:avLst/>
          </a:prstGeom>
          <a:solidFill>
            <a:schemeClr val="accent1">
              <a:alpha val="10980"/>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7"/>
          <p:cNvSpPr txBox="1"/>
          <p:nvPr/>
        </p:nvSpPr>
        <p:spPr>
          <a:xfrm>
            <a:off x="793851" y="3963122"/>
            <a:ext cx="63350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800">
                <a:solidFill>
                  <a:schemeClr val="dk1"/>
                </a:solidFill>
                <a:latin typeface="Calibri"/>
                <a:ea typeface="Calibri"/>
                <a:cs typeface="Calibri"/>
                <a:sym typeface="Calibri"/>
              </a:rPr>
              <a:t>PC</a:t>
            </a:r>
            <a:r>
              <a:rPr lang="pt-PT" sz="1800" u="sng">
                <a:solidFill>
                  <a:schemeClr val="dk1"/>
                </a:solidFill>
                <a:latin typeface="Calibri"/>
                <a:ea typeface="Calibri"/>
                <a:cs typeface="Calibri"/>
                <a:sym typeface="Calibri"/>
              </a:rPr>
              <a:t>s</a:t>
            </a:r>
            <a:r>
              <a:rPr lang="pt-PT" sz="1800">
                <a:solidFill>
                  <a:schemeClr val="dk1"/>
                </a:solidFill>
                <a:latin typeface="Calibri"/>
                <a:ea typeface="Calibri"/>
                <a:cs typeface="Calibri"/>
                <a:sym typeface="Calibri"/>
              </a:rPr>
              <a:t>1</a:t>
            </a:r>
            <a:endParaRPr/>
          </a:p>
        </p:txBody>
      </p:sp>
      <p:sp>
        <p:nvSpPr>
          <p:cNvPr id="196" name="Google Shape;196;p7"/>
          <p:cNvSpPr/>
          <p:nvPr/>
        </p:nvSpPr>
        <p:spPr>
          <a:xfrm>
            <a:off x="1337590" y="4013435"/>
            <a:ext cx="11681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Réplica Mongo</a:t>
            </a:r>
            <a:endParaRPr/>
          </a:p>
        </p:txBody>
      </p:sp>
      <p:grpSp>
        <p:nvGrpSpPr>
          <p:cNvPr id="197" name="Google Shape;197;p7"/>
          <p:cNvGrpSpPr/>
          <p:nvPr/>
        </p:nvGrpSpPr>
        <p:grpSpPr>
          <a:xfrm>
            <a:off x="1183478" y="4308835"/>
            <a:ext cx="1322273" cy="1174554"/>
            <a:chOff x="4572330" y="3890987"/>
            <a:chExt cx="1322273" cy="1174554"/>
          </a:xfrm>
        </p:grpSpPr>
        <p:pic>
          <p:nvPicPr>
            <p:cNvPr id="198" name="Google Shape;198;p7" descr="https://encrypted-tbn0.gstatic.com/images?q=tbn:ANd9GcRBY1D0nbu-zLYqNeeNI48c_paOksZJsMKQp2cYkmfNNcFCj5iY"/>
            <p:cNvPicPr preferRelativeResize="0"/>
            <p:nvPr/>
          </p:nvPicPr>
          <p:blipFill rotWithShape="1">
            <a:blip r:embed="rId5">
              <a:alphaModFix/>
            </a:blip>
            <a:srcRect/>
            <a:stretch/>
          </p:blipFill>
          <p:spPr>
            <a:xfrm>
              <a:off x="4967432" y="3890987"/>
              <a:ext cx="555418" cy="555418"/>
            </a:xfrm>
            <a:prstGeom prst="rect">
              <a:avLst/>
            </a:prstGeom>
            <a:noFill/>
            <a:ln>
              <a:noFill/>
            </a:ln>
          </p:spPr>
        </p:pic>
        <p:pic>
          <p:nvPicPr>
            <p:cNvPr id="199" name="Google Shape;199;p7" descr="https://encrypted-tbn0.gstatic.com/images?q=tbn:ANd9GcRBY1D0nbu-zLYqNeeNI48c_paOksZJsMKQp2cYkmfNNcFCj5iY"/>
            <p:cNvPicPr preferRelativeResize="0"/>
            <p:nvPr/>
          </p:nvPicPr>
          <p:blipFill rotWithShape="1">
            <a:blip r:embed="rId5">
              <a:alphaModFix/>
            </a:blip>
            <a:srcRect/>
            <a:stretch/>
          </p:blipFill>
          <p:spPr>
            <a:xfrm>
              <a:off x="4572330" y="4504085"/>
              <a:ext cx="555418" cy="555418"/>
            </a:xfrm>
            <a:prstGeom prst="rect">
              <a:avLst/>
            </a:prstGeom>
            <a:noFill/>
            <a:ln>
              <a:noFill/>
            </a:ln>
          </p:spPr>
        </p:pic>
        <p:pic>
          <p:nvPicPr>
            <p:cNvPr id="200" name="Google Shape;200;p7" descr="https://encrypted-tbn0.gstatic.com/images?q=tbn:ANd9GcRBY1D0nbu-zLYqNeeNI48c_paOksZJsMKQp2cYkmfNNcFCj5iY"/>
            <p:cNvPicPr preferRelativeResize="0"/>
            <p:nvPr/>
          </p:nvPicPr>
          <p:blipFill rotWithShape="1">
            <a:blip r:embed="rId5">
              <a:alphaModFix/>
            </a:blip>
            <a:srcRect/>
            <a:stretch/>
          </p:blipFill>
          <p:spPr>
            <a:xfrm>
              <a:off x="5339185" y="4510123"/>
              <a:ext cx="555418" cy="555418"/>
            </a:xfrm>
            <a:prstGeom prst="rect">
              <a:avLst/>
            </a:prstGeom>
            <a:noFill/>
            <a:ln>
              <a:noFill/>
            </a:ln>
          </p:spPr>
        </p:pic>
      </p:grpSp>
      <p:sp>
        <p:nvSpPr>
          <p:cNvPr id="201" name="Google Shape;201;p7"/>
          <p:cNvSpPr/>
          <p:nvPr/>
        </p:nvSpPr>
        <p:spPr>
          <a:xfrm>
            <a:off x="4437640" y="3927118"/>
            <a:ext cx="976951" cy="1728192"/>
          </a:xfrm>
          <a:prstGeom prst="rect">
            <a:avLst/>
          </a:prstGeom>
          <a:solidFill>
            <a:schemeClr val="accent1">
              <a:alpha val="10980"/>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7"/>
          <p:cNvSpPr txBox="1"/>
          <p:nvPr/>
        </p:nvSpPr>
        <p:spPr>
          <a:xfrm>
            <a:off x="4453802" y="3999126"/>
            <a:ext cx="5437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800">
                <a:solidFill>
                  <a:schemeClr val="dk1"/>
                </a:solidFill>
                <a:latin typeface="Calibri"/>
                <a:ea typeface="Calibri"/>
                <a:cs typeface="Calibri"/>
                <a:sym typeface="Calibri"/>
              </a:rPr>
              <a:t>PC2</a:t>
            </a:r>
            <a:endParaRPr/>
          </a:p>
        </p:txBody>
      </p:sp>
      <p:sp>
        <p:nvSpPr>
          <p:cNvPr id="203" name="Google Shape;203;p7"/>
          <p:cNvSpPr/>
          <p:nvPr/>
        </p:nvSpPr>
        <p:spPr>
          <a:xfrm>
            <a:off x="4428896" y="4270382"/>
            <a:ext cx="159798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Mysql</a:t>
            </a:r>
            <a:endParaRPr/>
          </a:p>
        </p:txBody>
      </p:sp>
      <p:pic>
        <p:nvPicPr>
          <p:cNvPr id="204" name="Google Shape;204;p7" descr="https://encrypted-tbn0.gstatic.com/images?q=tbn:ANd9GcRBY1D0nbu-zLYqNeeNI48c_paOksZJsMKQp2cYkmfNNcFCj5iY"/>
          <p:cNvPicPr preferRelativeResize="0"/>
          <p:nvPr/>
        </p:nvPicPr>
        <p:blipFill rotWithShape="1">
          <a:blip r:embed="rId5">
            <a:alphaModFix/>
          </a:blip>
          <a:srcRect/>
          <a:stretch/>
        </p:blipFill>
        <p:spPr>
          <a:xfrm>
            <a:off x="4529092" y="4663851"/>
            <a:ext cx="555418" cy="555418"/>
          </a:xfrm>
          <a:prstGeom prst="rect">
            <a:avLst/>
          </a:prstGeom>
          <a:noFill/>
          <a:ln>
            <a:noFill/>
          </a:ln>
        </p:spPr>
      </p:pic>
      <p:sp>
        <p:nvSpPr>
          <p:cNvPr id="205" name="Google Shape;205;p7"/>
          <p:cNvSpPr/>
          <p:nvPr/>
        </p:nvSpPr>
        <p:spPr>
          <a:xfrm rot="2257715">
            <a:off x="2041284" y="3343622"/>
            <a:ext cx="515853" cy="432048"/>
          </a:xfrm>
          <a:prstGeom prst="downArrow">
            <a:avLst>
              <a:gd name="adj1" fmla="val 50000"/>
              <a:gd name="adj2" fmla="val 50000"/>
            </a:avLst>
          </a:prstGeom>
          <a:solidFill>
            <a:schemeClr val="accent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6" name="Google Shape;206;p7" descr="https://encrypted-tbn0.gstatic.com/images?q=tbn:ANd9GcRBY1D0nbu-zLYqNeeNI48c_paOksZJsMKQp2cYkmfNNcFCj5iY"/>
          <p:cNvPicPr preferRelativeResize="0"/>
          <p:nvPr/>
        </p:nvPicPr>
        <p:blipFill rotWithShape="1">
          <a:blip r:embed="rId5">
            <a:alphaModFix/>
          </a:blip>
          <a:srcRect/>
          <a:stretch/>
        </p:blipFill>
        <p:spPr>
          <a:xfrm>
            <a:off x="5736156" y="1862169"/>
            <a:ext cx="555418" cy="555418"/>
          </a:xfrm>
          <a:prstGeom prst="rect">
            <a:avLst/>
          </a:prstGeom>
          <a:noFill/>
          <a:ln>
            <a:noFill/>
          </a:ln>
        </p:spPr>
      </p:pic>
      <p:sp>
        <p:nvSpPr>
          <p:cNvPr id="207" name="Google Shape;207;p7"/>
          <p:cNvSpPr/>
          <p:nvPr/>
        </p:nvSpPr>
        <p:spPr>
          <a:xfrm>
            <a:off x="5209817" y="2128077"/>
            <a:ext cx="159798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Mysql</a:t>
            </a:r>
            <a:endParaRPr/>
          </a:p>
        </p:txBody>
      </p:sp>
      <p:pic>
        <p:nvPicPr>
          <p:cNvPr id="208" name="Google Shape;208;p7"/>
          <p:cNvPicPr preferRelativeResize="0"/>
          <p:nvPr/>
        </p:nvPicPr>
        <p:blipFill rotWithShape="1">
          <a:blip r:embed="rId6">
            <a:alphaModFix/>
          </a:blip>
          <a:srcRect/>
          <a:stretch/>
        </p:blipFill>
        <p:spPr>
          <a:xfrm>
            <a:off x="3359057" y="5539921"/>
            <a:ext cx="670905" cy="831922"/>
          </a:xfrm>
          <a:prstGeom prst="rect">
            <a:avLst/>
          </a:prstGeom>
          <a:noFill/>
          <a:ln>
            <a:noFill/>
          </a:ln>
        </p:spPr>
      </p:pic>
      <p:sp>
        <p:nvSpPr>
          <p:cNvPr id="209" name="Google Shape;209;p7"/>
          <p:cNvSpPr/>
          <p:nvPr/>
        </p:nvSpPr>
        <p:spPr>
          <a:xfrm rot="-2999737">
            <a:off x="3240688" y="4873618"/>
            <a:ext cx="449340" cy="545969"/>
          </a:xfrm>
          <a:prstGeom prst="downArrow">
            <a:avLst>
              <a:gd name="adj1" fmla="val 50000"/>
              <a:gd name="adj2" fmla="val 50000"/>
            </a:avLst>
          </a:prstGeom>
          <a:solidFill>
            <a:schemeClr val="accent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7"/>
          <p:cNvSpPr/>
          <p:nvPr/>
        </p:nvSpPr>
        <p:spPr>
          <a:xfrm rot="-7492054">
            <a:off x="3897298" y="4847873"/>
            <a:ext cx="449340" cy="545969"/>
          </a:xfrm>
          <a:prstGeom prst="downArrow">
            <a:avLst>
              <a:gd name="adj1" fmla="val 50000"/>
              <a:gd name="adj2" fmla="val 50000"/>
            </a:avLst>
          </a:prstGeom>
          <a:solidFill>
            <a:schemeClr val="accent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1" name="Google Shape;211;p7" descr="Free Icon | Smartphone"/>
          <p:cNvPicPr preferRelativeResize="0"/>
          <p:nvPr/>
        </p:nvPicPr>
        <p:blipFill rotWithShape="1">
          <a:blip r:embed="rId7">
            <a:alphaModFix/>
          </a:blip>
          <a:srcRect/>
          <a:stretch/>
        </p:blipFill>
        <p:spPr>
          <a:xfrm>
            <a:off x="7251302" y="5061801"/>
            <a:ext cx="1115009" cy="1115009"/>
          </a:xfrm>
          <a:prstGeom prst="rect">
            <a:avLst/>
          </a:prstGeom>
          <a:noFill/>
          <a:ln>
            <a:noFill/>
          </a:ln>
        </p:spPr>
      </p:pic>
      <p:sp>
        <p:nvSpPr>
          <p:cNvPr id="212" name="Google Shape;212;p7"/>
          <p:cNvSpPr/>
          <p:nvPr/>
        </p:nvSpPr>
        <p:spPr>
          <a:xfrm rot="-2371604">
            <a:off x="5280151" y="5306473"/>
            <a:ext cx="183339" cy="459581"/>
          </a:xfrm>
          <a:prstGeom prst="downArrow">
            <a:avLst>
              <a:gd name="adj1" fmla="val 50000"/>
              <a:gd name="adj2" fmla="val 500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7"/>
          <p:cNvSpPr txBox="1"/>
          <p:nvPr/>
        </p:nvSpPr>
        <p:spPr>
          <a:xfrm>
            <a:off x="6532519" y="5799266"/>
            <a:ext cx="7780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Alertas</a:t>
            </a:r>
            <a:endParaRPr/>
          </a:p>
          <a:p>
            <a:pPr marL="0" marR="0" lvl="0" indent="0" algn="l" rtl="0">
              <a:spcBef>
                <a:spcPts val="0"/>
              </a:spcBef>
              <a:spcAft>
                <a:spcPts val="0"/>
              </a:spcAft>
              <a:buNone/>
            </a:pPr>
            <a:r>
              <a:rPr lang="pt-PT" sz="1400">
                <a:solidFill>
                  <a:schemeClr val="dk1"/>
                </a:solidFill>
                <a:latin typeface="Calibri"/>
                <a:ea typeface="Calibri"/>
                <a:cs typeface="Calibri"/>
                <a:sym typeface="Calibri"/>
              </a:rPr>
              <a:t>Gráficos</a:t>
            </a:r>
            <a:endParaRPr/>
          </a:p>
        </p:txBody>
      </p:sp>
      <p:pic>
        <p:nvPicPr>
          <p:cNvPr id="214" name="Google Shape;214;p7" descr="Cells, column, data, row, spreadsheet, table icon - Download on Iconfinder"/>
          <p:cNvPicPr preferRelativeResize="0"/>
          <p:nvPr/>
        </p:nvPicPr>
        <p:blipFill rotWithShape="1">
          <a:blip r:embed="rId8">
            <a:alphaModFix/>
          </a:blip>
          <a:srcRect/>
          <a:stretch/>
        </p:blipFill>
        <p:spPr>
          <a:xfrm>
            <a:off x="5542638" y="5470244"/>
            <a:ext cx="695167" cy="695167"/>
          </a:xfrm>
          <a:prstGeom prst="rect">
            <a:avLst/>
          </a:prstGeom>
          <a:noFill/>
          <a:ln>
            <a:noFill/>
          </a:ln>
        </p:spPr>
      </p:pic>
      <p:sp>
        <p:nvSpPr>
          <p:cNvPr id="215" name="Google Shape;215;p7"/>
          <p:cNvSpPr txBox="1"/>
          <p:nvPr/>
        </p:nvSpPr>
        <p:spPr>
          <a:xfrm>
            <a:off x="5528319" y="6094381"/>
            <a:ext cx="15180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Tabelas de</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Movimentos e outras</a:t>
            </a:r>
            <a:endParaRPr/>
          </a:p>
        </p:txBody>
      </p:sp>
      <p:sp>
        <p:nvSpPr>
          <p:cNvPr id="216" name="Google Shape;216;p7"/>
          <p:cNvSpPr/>
          <p:nvPr/>
        </p:nvSpPr>
        <p:spPr>
          <a:xfrm rot="-5400000">
            <a:off x="6785687" y="5518525"/>
            <a:ext cx="183339" cy="459581"/>
          </a:xfrm>
          <a:prstGeom prst="downArrow">
            <a:avLst>
              <a:gd name="adj1" fmla="val 50000"/>
              <a:gd name="adj2" fmla="val 50000"/>
            </a:avLst>
          </a:prstGeom>
          <a:solidFill>
            <a:srgbClr val="DAE5F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7" name="Google Shape;217;p7" descr="User icon with laptop computer male person Vector Image"/>
          <p:cNvPicPr preferRelativeResize="0"/>
          <p:nvPr/>
        </p:nvPicPr>
        <p:blipFill rotWithShape="1">
          <a:blip r:embed="rId9">
            <a:alphaModFix/>
          </a:blip>
          <a:srcRect/>
          <a:stretch/>
        </p:blipFill>
        <p:spPr>
          <a:xfrm>
            <a:off x="7159605" y="4139990"/>
            <a:ext cx="624825" cy="674001"/>
          </a:xfrm>
          <a:prstGeom prst="rect">
            <a:avLst/>
          </a:prstGeom>
          <a:noFill/>
          <a:ln>
            <a:noFill/>
          </a:ln>
        </p:spPr>
      </p:pic>
      <p:pic>
        <p:nvPicPr>
          <p:cNvPr id="218" name="Google Shape;218;p7" descr="File, html, document, form icon - Download on Iconfinder"/>
          <p:cNvPicPr preferRelativeResize="0"/>
          <p:nvPr/>
        </p:nvPicPr>
        <p:blipFill rotWithShape="1">
          <a:blip r:embed="rId10">
            <a:alphaModFix/>
          </a:blip>
          <a:srcRect/>
          <a:stretch/>
        </p:blipFill>
        <p:spPr>
          <a:xfrm>
            <a:off x="5741778" y="4066005"/>
            <a:ext cx="583122" cy="583122"/>
          </a:xfrm>
          <a:prstGeom prst="rect">
            <a:avLst/>
          </a:prstGeom>
          <a:noFill/>
          <a:ln>
            <a:noFill/>
          </a:ln>
        </p:spPr>
      </p:pic>
      <p:sp>
        <p:nvSpPr>
          <p:cNvPr id="219" name="Google Shape;219;p7"/>
          <p:cNvSpPr txBox="1"/>
          <p:nvPr/>
        </p:nvSpPr>
        <p:spPr>
          <a:xfrm>
            <a:off x="6685980" y="3724051"/>
            <a:ext cx="68538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Equipe</a:t>
            </a:r>
            <a:endParaRPr/>
          </a:p>
        </p:txBody>
      </p:sp>
      <p:sp>
        <p:nvSpPr>
          <p:cNvPr id="220" name="Google Shape;220;p7"/>
          <p:cNvSpPr/>
          <p:nvPr/>
        </p:nvSpPr>
        <p:spPr>
          <a:xfrm>
            <a:off x="3036584" y="1093958"/>
            <a:ext cx="96463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Movimentomarsamis</a:t>
            </a:r>
            <a:endParaRPr sz="1200">
              <a:solidFill>
                <a:schemeClr val="dk1"/>
              </a:solidFill>
              <a:latin typeface="Calibri"/>
              <a:ea typeface="Calibri"/>
              <a:cs typeface="Calibri"/>
              <a:sym typeface="Calibri"/>
            </a:endParaRPr>
          </a:p>
        </p:txBody>
      </p:sp>
      <p:pic>
        <p:nvPicPr>
          <p:cNvPr id="221" name="Google Shape;221;p7"/>
          <p:cNvPicPr preferRelativeResize="0"/>
          <p:nvPr/>
        </p:nvPicPr>
        <p:blipFill rotWithShape="1">
          <a:blip r:embed="rId6">
            <a:alphaModFix/>
          </a:blip>
          <a:srcRect/>
          <a:stretch/>
        </p:blipFill>
        <p:spPr>
          <a:xfrm>
            <a:off x="2465579" y="2792438"/>
            <a:ext cx="470532" cy="583460"/>
          </a:xfrm>
          <a:prstGeom prst="rect">
            <a:avLst/>
          </a:prstGeom>
          <a:noFill/>
          <a:ln>
            <a:noFill/>
          </a:ln>
        </p:spPr>
      </p:pic>
      <p:sp>
        <p:nvSpPr>
          <p:cNvPr id="222" name="Google Shape;222;p7"/>
          <p:cNvSpPr/>
          <p:nvPr/>
        </p:nvSpPr>
        <p:spPr>
          <a:xfrm rot="2257715">
            <a:off x="2813753" y="1998424"/>
            <a:ext cx="515853" cy="432048"/>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3" name="Google Shape;223;p7" descr="Bar chart, business graph, business growth, graph icon - Free download"/>
          <p:cNvPicPr preferRelativeResize="0"/>
          <p:nvPr/>
        </p:nvPicPr>
        <p:blipFill rotWithShape="1">
          <a:blip r:embed="rId11">
            <a:alphaModFix/>
          </a:blip>
          <a:srcRect/>
          <a:stretch/>
        </p:blipFill>
        <p:spPr>
          <a:xfrm>
            <a:off x="6992981" y="6182977"/>
            <a:ext cx="486309" cy="486309"/>
          </a:xfrm>
          <a:prstGeom prst="rect">
            <a:avLst/>
          </a:prstGeom>
          <a:noFill/>
          <a:ln>
            <a:noFill/>
          </a:ln>
        </p:spPr>
      </p:pic>
      <p:pic>
        <p:nvPicPr>
          <p:cNvPr id="224" name="Google Shape;224;p7" descr="ícone Java, original, a marca, logo em Devicon"/>
          <p:cNvPicPr preferRelativeResize="0"/>
          <p:nvPr/>
        </p:nvPicPr>
        <p:blipFill rotWithShape="1">
          <a:blip r:embed="rId12">
            <a:alphaModFix/>
          </a:blip>
          <a:srcRect/>
          <a:stretch/>
        </p:blipFill>
        <p:spPr>
          <a:xfrm>
            <a:off x="3126858" y="3352010"/>
            <a:ext cx="437030" cy="437030"/>
          </a:xfrm>
          <a:prstGeom prst="rect">
            <a:avLst/>
          </a:prstGeom>
          <a:noFill/>
          <a:ln>
            <a:noFill/>
          </a:ln>
        </p:spPr>
      </p:pic>
      <p:sp>
        <p:nvSpPr>
          <p:cNvPr id="225" name="Google Shape;225;p7"/>
          <p:cNvSpPr/>
          <p:nvPr/>
        </p:nvSpPr>
        <p:spPr>
          <a:xfrm>
            <a:off x="6314787" y="4286174"/>
            <a:ext cx="844818" cy="167263"/>
          </a:xfrm>
          <a:prstGeom prst="lef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7"/>
          <p:cNvSpPr/>
          <p:nvPr/>
        </p:nvSpPr>
        <p:spPr>
          <a:xfrm rot="-1042515">
            <a:off x="5562492" y="4837112"/>
            <a:ext cx="1407425" cy="201937"/>
          </a:xfrm>
          <a:prstGeom prst="lef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7" name="Google Shape;227;p7" descr="User icon with laptop computer male person Vector Image"/>
          <p:cNvPicPr preferRelativeResize="0"/>
          <p:nvPr/>
        </p:nvPicPr>
        <p:blipFill rotWithShape="1">
          <a:blip r:embed="rId9">
            <a:alphaModFix/>
          </a:blip>
          <a:srcRect/>
          <a:stretch/>
        </p:blipFill>
        <p:spPr>
          <a:xfrm>
            <a:off x="6059970" y="3111885"/>
            <a:ext cx="511154" cy="551383"/>
          </a:xfrm>
          <a:prstGeom prst="rect">
            <a:avLst/>
          </a:prstGeom>
          <a:noFill/>
          <a:ln>
            <a:noFill/>
          </a:ln>
        </p:spPr>
      </p:pic>
      <p:sp>
        <p:nvSpPr>
          <p:cNvPr id="228" name="Google Shape;228;p7"/>
          <p:cNvSpPr txBox="1"/>
          <p:nvPr/>
        </p:nvSpPr>
        <p:spPr>
          <a:xfrm>
            <a:off x="6479730" y="3234280"/>
            <a:ext cx="121296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administrador</a:t>
            </a:r>
            <a:endParaRPr/>
          </a:p>
        </p:txBody>
      </p:sp>
      <p:sp>
        <p:nvSpPr>
          <p:cNvPr id="229" name="Google Shape;229;p7"/>
          <p:cNvSpPr/>
          <p:nvPr/>
        </p:nvSpPr>
        <p:spPr>
          <a:xfrm rot="-1595016">
            <a:off x="5481382" y="3712897"/>
            <a:ext cx="568357" cy="179994"/>
          </a:xfrm>
          <a:prstGeom prst="lef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7"/>
          <p:cNvSpPr/>
          <p:nvPr/>
        </p:nvSpPr>
        <p:spPr>
          <a:xfrm>
            <a:off x="5478044" y="4254070"/>
            <a:ext cx="318715" cy="179994"/>
          </a:xfrm>
          <a:prstGeom prst="lef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7"/>
          <p:cNvSpPr txBox="1"/>
          <p:nvPr/>
        </p:nvSpPr>
        <p:spPr>
          <a:xfrm>
            <a:off x="7880948" y="3730850"/>
            <a:ext cx="106580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Atuadores e</a:t>
            </a:r>
            <a:endParaRPr/>
          </a:p>
          <a:p>
            <a:pPr marL="0" marR="0" lvl="0" indent="0" algn="l" rtl="0">
              <a:spcBef>
                <a:spcPts val="0"/>
              </a:spcBef>
              <a:spcAft>
                <a:spcPts val="0"/>
              </a:spcAft>
              <a:buNone/>
            </a:pPr>
            <a:r>
              <a:rPr lang="pt-PT" sz="1400">
                <a:solidFill>
                  <a:schemeClr val="dk1"/>
                </a:solidFill>
                <a:latin typeface="Calibri"/>
                <a:ea typeface="Calibri"/>
                <a:cs typeface="Calibri"/>
                <a:sym typeface="Calibri"/>
              </a:rPr>
              <a:t>gatilhos</a:t>
            </a:r>
            <a:endParaRPr/>
          </a:p>
        </p:txBody>
      </p:sp>
      <p:sp>
        <p:nvSpPr>
          <p:cNvPr id="232" name="Google Shape;232;p7"/>
          <p:cNvSpPr/>
          <p:nvPr/>
        </p:nvSpPr>
        <p:spPr>
          <a:xfrm rot="8220460">
            <a:off x="7563334" y="2394871"/>
            <a:ext cx="258713" cy="1282388"/>
          </a:xfrm>
          <a:prstGeom prst="downArrow">
            <a:avLst>
              <a:gd name="adj1" fmla="val 50000"/>
              <a:gd name="adj2" fmla="val 50000"/>
            </a:avLst>
          </a:prstGeom>
          <a:solidFill>
            <a:schemeClr val="accent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3" name="Google Shape;233;p7" descr="Python Logo"/>
          <p:cNvPicPr preferRelativeResize="0"/>
          <p:nvPr/>
        </p:nvPicPr>
        <p:blipFill rotWithShape="1">
          <a:blip r:embed="rId13">
            <a:alphaModFix/>
          </a:blip>
          <a:srcRect/>
          <a:stretch/>
        </p:blipFill>
        <p:spPr>
          <a:xfrm>
            <a:off x="2625473" y="3429734"/>
            <a:ext cx="341026" cy="341026"/>
          </a:xfrm>
          <a:prstGeom prst="rect">
            <a:avLst/>
          </a:prstGeom>
          <a:noFill/>
          <a:ln>
            <a:noFill/>
          </a:ln>
        </p:spPr>
      </p:pic>
      <p:sp>
        <p:nvSpPr>
          <p:cNvPr id="234" name="Google Shape;234;p7"/>
          <p:cNvSpPr txBox="1"/>
          <p:nvPr/>
        </p:nvSpPr>
        <p:spPr>
          <a:xfrm>
            <a:off x="2914994" y="3453313"/>
            <a:ext cx="3738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ou</a:t>
            </a:r>
            <a:endParaRPr/>
          </a:p>
        </p:txBody>
      </p:sp>
      <p:pic>
        <p:nvPicPr>
          <p:cNvPr id="235" name="Google Shape;235;p7" descr="ícone Java, original, a marca, logo em Devicon"/>
          <p:cNvPicPr preferRelativeResize="0"/>
          <p:nvPr/>
        </p:nvPicPr>
        <p:blipFill rotWithShape="1">
          <a:blip r:embed="rId12">
            <a:alphaModFix/>
          </a:blip>
          <a:srcRect/>
          <a:stretch/>
        </p:blipFill>
        <p:spPr>
          <a:xfrm>
            <a:off x="3815590" y="4299144"/>
            <a:ext cx="437030" cy="437030"/>
          </a:xfrm>
          <a:prstGeom prst="rect">
            <a:avLst/>
          </a:prstGeom>
          <a:noFill/>
          <a:ln>
            <a:noFill/>
          </a:ln>
        </p:spPr>
      </p:pic>
      <p:pic>
        <p:nvPicPr>
          <p:cNvPr id="236" name="Google Shape;236;p7" descr="Python Logo"/>
          <p:cNvPicPr preferRelativeResize="0"/>
          <p:nvPr/>
        </p:nvPicPr>
        <p:blipFill rotWithShape="1">
          <a:blip r:embed="rId13">
            <a:alphaModFix/>
          </a:blip>
          <a:srcRect/>
          <a:stretch/>
        </p:blipFill>
        <p:spPr>
          <a:xfrm>
            <a:off x="3314205" y="4376868"/>
            <a:ext cx="341026" cy="341026"/>
          </a:xfrm>
          <a:prstGeom prst="rect">
            <a:avLst/>
          </a:prstGeom>
          <a:noFill/>
          <a:ln>
            <a:noFill/>
          </a:ln>
        </p:spPr>
      </p:pic>
      <p:sp>
        <p:nvSpPr>
          <p:cNvPr id="237" name="Google Shape;237;p7"/>
          <p:cNvSpPr txBox="1"/>
          <p:nvPr/>
        </p:nvSpPr>
        <p:spPr>
          <a:xfrm>
            <a:off x="3603726" y="4400447"/>
            <a:ext cx="3738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ou</a:t>
            </a:r>
            <a:endParaRPr/>
          </a:p>
        </p:txBody>
      </p:sp>
      <p:pic>
        <p:nvPicPr>
          <p:cNvPr id="238" name="Google Shape;238;p7" descr="ícone Java, original, a marca, logo em Devicon"/>
          <p:cNvPicPr preferRelativeResize="0"/>
          <p:nvPr/>
        </p:nvPicPr>
        <p:blipFill rotWithShape="1">
          <a:blip r:embed="rId12">
            <a:alphaModFix/>
          </a:blip>
          <a:srcRect/>
          <a:stretch/>
        </p:blipFill>
        <p:spPr>
          <a:xfrm>
            <a:off x="4423387" y="2815835"/>
            <a:ext cx="437030" cy="437030"/>
          </a:xfrm>
          <a:prstGeom prst="rect">
            <a:avLst/>
          </a:prstGeom>
          <a:noFill/>
          <a:ln>
            <a:noFill/>
          </a:ln>
        </p:spPr>
      </p:pic>
      <p:pic>
        <p:nvPicPr>
          <p:cNvPr id="239" name="Google Shape;239;p7" descr="Python Logo"/>
          <p:cNvPicPr preferRelativeResize="0"/>
          <p:nvPr/>
        </p:nvPicPr>
        <p:blipFill rotWithShape="1">
          <a:blip r:embed="rId13">
            <a:alphaModFix/>
          </a:blip>
          <a:srcRect/>
          <a:stretch/>
        </p:blipFill>
        <p:spPr>
          <a:xfrm>
            <a:off x="3922002" y="2893559"/>
            <a:ext cx="341026" cy="341026"/>
          </a:xfrm>
          <a:prstGeom prst="rect">
            <a:avLst/>
          </a:prstGeom>
          <a:noFill/>
          <a:ln>
            <a:noFill/>
          </a:ln>
        </p:spPr>
      </p:pic>
      <p:sp>
        <p:nvSpPr>
          <p:cNvPr id="240" name="Google Shape;240;p7"/>
          <p:cNvSpPr txBox="1"/>
          <p:nvPr/>
        </p:nvSpPr>
        <p:spPr>
          <a:xfrm>
            <a:off x="4211523" y="2917138"/>
            <a:ext cx="3738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ou</a:t>
            </a:r>
            <a:endParaRPr/>
          </a:p>
        </p:txBody>
      </p:sp>
      <p:pic>
        <p:nvPicPr>
          <p:cNvPr id="241" name="Google Shape;241;p7" descr="ícone Java, original, a marca, logo em Devicon"/>
          <p:cNvPicPr preferRelativeResize="0"/>
          <p:nvPr/>
        </p:nvPicPr>
        <p:blipFill rotWithShape="1">
          <a:blip r:embed="rId12">
            <a:alphaModFix/>
          </a:blip>
          <a:srcRect/>
          <a:stretch/>
        </p:blipFill>
        <p:spPr>
          <a:xfrm>
            <a:off x="8285815" y="2430984"/>
            <a:ext cx="437030" cy="437030"/>
          </a:xfrm>
          <a:prstGeom prst="rect">
            <a:avLst/>
          </a:prstGeom>
          <a:noFill/>
          <a:ln>
            <a:noFill/>
          </a:ln>
        </p:spPr>
      </p:pic>
      <p:pic>
        <p:nvPicPr>
          <p:cNvPr id="242" name="Google Shape;242;p7" descr="Python Logo"/>
          <p:cNvPicPr preferRelativeResize="0"/>
          <p:nvPr/>
        </p:nvPicPr>
        <p:blipFill rotWithShape="1">
          <a:blip r:embed="rId13">
            <a:alphaModFix/>
          </a:blip>
          <a:srcRect/>
          <a:stretch/>
        </p:blipFill>
        <p:spPr>
          <a:xfrm>
            <a:off x="7784430" y="2508708"/>
            <a:ext cx="341026" cy="341026"/>
          </a:xfrm>
          <a:prstGeom prst="rect">
            <a:avLst/>
          </a:prstGeom>
          <a:noFill/>
          <a:ln>
            <a:noFill/>
          </a:ln>
        </p:spPr>
      </p:pic>
      <p:sp>
        <p:nvSpPr>
          <p:cNvPr id="243" name="Google Shape;243;p7"/>
          <p:cNvSpPr txBox="1"/>
          <p:nvPr/>
        </p:nvSpPr>
        <p:spPr>
          <a:xfrm>
            <a:off x="8073951" y="2532287"/>
            <a:ext cx="37382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ou</a:t>
            </a:r>
            <a:endParaRPr/>
          </a:p>
        </p:txBody>
      </p:sp>
      <p:pic>
        <p:nvPicPr>
          <p:cNvPr id="244" name="Google Shape;244;p7" descr="PHP: Download Logos"/>
          <p:cNvPicPr preferRelativeResize="0"/>
          <p:nvPr/>
        </p:nvPicPr>
        <p:blipFill rotWithShape="1">
          <a:blip r:embed="rId14">
            <a:alphaModFix/>
          </a:blip>
          <a:srcRect/>
          <a:stretch/>
        </p:blipFill>
        <p:spPr>
          <a:xfrm>
            <a:off x="6304368" y="5263971"/>
            <a:ext cx="611494" cy="335189"/>
          </a:xfrm>
          <a:prstGeom prst="rect">
            <a:avLst/>
          </a:prstGeom>
          <a:noFill/>
          <a:ln>
            <a:noFill/>
          </a:ln>
        </p:spPr>
      </p:pic>
      <p:sp>
        <p:nvSpPr>
          <p:cNvPr id="245" name="Google Shape;245;p7"/>
          <p:cNvSpPr/>
          <p:nvPr/>
        </p:nvSpPr>
        <p:spPr>
          <a:xfrm>
            <a:off x="8302591" y="2937718"/>
            <a:ext cx="473101" cy="714749"/>
          </a:xfrm>
          <a:prstGeom prst="rect">
            <a:avLst/>
          </a:prstGeom>
          <a:solidFill>
            <a:schemeClr val="accent1">
              <a:alpha val="10980"/>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7"/>
          <p:cNvSpPr txBox="1"/>
          <p:nvPr/>
        </p:nvSpPr>
        <p:spPr>
          <a:xfrm>
            <a:off x="8265882" y="2980127"/>
            <a:ext cx="65205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PC1/2</a:t>
            </a:r>
            <a:endParaRPr/>
          </a:p>
        </p:txBody>
      </p:sp>
      <p:pic>
        <p:nvPicPr>
          <p:cNvPr id="247" name="Google Shape;247;p7" descr="https://encrypted-tbn0.gstatic.com/images?q=tbn:ANd9GcRBY1D0nbu-zLYqNeeNI48c_paOksZJsMKQp2cYkmfNNcFCj5iY"/>
          <p:cNvPicPr preferRelativeResize="0"/>
          <p:nvPr/>
        </p:nvPicPr>
        <p:blipFill rotWithShape="1">
          <a:blip r:embed="rId15">
            <a:alphaModFix/>
          </a:blip>
          <a:srcRect/>
          <a:stretch/>
        </p:blipFill>
        <p:spPr>
          <a:xfrm>
            <a:off x="8349373" y="3264487"/>
            <a:ext cx="319631" cy="319631"/>
          </a:xfrm>
          <a:prstGeom prst="rect">
            <a:avLst/>
          </a:prstGeom>
          <a:noFill/>
          <a:ln>
            <a:noFill/>
          </a:ln>
        </p:spPr>
      </p:pic>
      <p:sp>
        <p:nvSpPr>
          <p:cNvPr id="248" name="Google Shape;248;p7"/>
          <p:cNvSpPr txBox="1"/>
          <p:nvPr/>
        </p:nvSpPr>
        <p:spPr>
          <a:xfrm>
            <a:off x="7270544" y="1916447"/>
            <a:ext cx="106580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Atuadores e</a:t>
            </a:r>
            <a:endParaRPr/>
          </a:p>
          <a:p>
            <a:pPr marL="0" marR="0" lvl="0" indent="0" algn="l" rtl="0">
              <a:spcBef>
                <a:spcPts val="0"/>
              </a:spcBef>
              <a:spcAft>
                <a:spcPts val="0"/>
              </a:spcAft>
              <a:buNone/>
            </a:pPr>
            <a:r>
              <a:rPr lang="pt-PT" sz="1400">
                <a:solidFill>
                  <a:schemeClr val="dk1"/>
                </a:solidFill>
                <a:latin typeface="Calibri"/>
                <a:ea typeface="Calibri"/>
                <a:cs typeface="Calibri"/>
                <a:sym typeface="Calibri"/>
              </a:rPr>
              <a:t>gatilhos</a:t>
            </a:r>
            <a:endParaRPr/>
          </a:p>
        </p:txBody>
      </p:sp>
      <p:pic>
        <p:nvPicPr>
          <p:cNvPr id="249" name="Google Shape;249;p7"/>
          <p:cNvPicPr preferRelativeResize="0"/>
          <p:nvPr/>
        </p:nvPicPr>
        <p:blipFill rotWithShape="1">
          <a:blip r:embed="rId6">
            <a:alphaModFix/>
          </a:blip>
          <a:srcRect/>
          <a:stretch/>
        </p:blipFill>
        <p:spPr>
          <a:xfrm>
            <a:off x="7283738" y="1024303"/>
            <a:ext cx="670905" cy="831922"/>
          </a:xfrm>
          <a:prstGeom prst="rect">
            <a:avLst/>
          </a:prstGeom>
          <a:noFill/>
          <a:ln>
            <a:noFill/>
          </a:ln>
        </p:spPr>
      </p:pic>
      <p:pic>
        <p:nvPicPr>
          <p:cNvPr id="250" name="Google Shape;250;p7" descr="Resultado de imagem para movement sensor"/>
          <p:cNvPicPr preferRelativeResize="0"/>
          <p:nvPr/>
        </p:nvPicPr>
        <p:blipFill rotWithShape="1">
          <a:blip r:embed="rId4">
            <a:alphaModFix/>
          </a:blip>
          <a:srcRect/>
          <a:stretch/>
        </p:blipFill>
        <p:spPr>
          <a:xfrm>
            <a:off x="2062867" y="1831659"/>
            <a:ext cx="398754" cy="217792"/>
          </a:xfrm>
          <a:prstGeom prst="rect">
            <a:avLst/>
          </a:prstGeom>
          <a:noFill/>
          <a:ln>
            <a:noFill/>
          </a:ln>
        </p:spPr>
      </p:pic>
      <p:sp>
        <p:nvSpPr>
          <p:cNvPr id="251" name="Google Shape;251;p7"/>
          <p:cNvSpPr/>
          <p:nvPr/>
        </p:nvSpPr>
        <p:spPr>
          <a:xfrm>
            <a:off x="1714538" y="2049451"/>
            <a:ext cx="989015" cy="276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temperatura</a:t>
            </a:r>
            <a:endParaRPr/>
          </a:p>
        </p:txBody>
      </p:sp>
      <p:sp>
        <p:nvSpPr>
          <p:cNvPr id="252" name="Google Shape;252;p7"/>
          <p:cNvSpPr/>
          <p:nvPr/>
        </p:nvSpPr>
        <p:spPr>
          <a:xfrm rot="-5400000">
            <a:off x="401767" y="6277949"/>
            <a:ext cx="515853" cy="432048"/>
          </a:xfrm>
          <a:prstGeom prst="downArrow">
            <a:avLst>
              <a:gd name="adj1" fmla="val 50000"/>
              <a:gd name="adj2" fmla="val 50000"/>
            </a:avLst>
          </a:prstGeom>
          <a:solidFill>
            <a:schemeClr val="accent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3" name="Google Shape;253;p7"/>
          <p:cNvSpPr txBox="1"/>
          <p:nvPr/>
        </p:nvSpPr>
        <p:spPr>
          <a:xfrm>
            <a:off x="977040" y="6272242"/>
            <a:ext cx="156036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Jogador (Software)</a:t>
            </a:r>
            <a:endParaRPr/>
          </a:p>
        </p:txBody>
      </p:sp>
      <p:sp>
        <p:nvSpPr>
          <p:cNvPr id="254" name="Google Shape;254;p7"/>
          <p:cNvSpPr/>
          <p:nvPr/>
        </p:nvSpPr>
        <p:spPr>
          <a:xfrm rot="3761271">
            <a:off x="4313222" y="2594094"/>
            <a:ext cx="330367" cy="1823493"/>
          </a:xfrm>
          <a:prstGeom prst="downArrow">
            <a:avLst>
              <a:gd name="adj1" fmla="val 50000"/>
              <a:gd name="adj2" fmla="val 50000"/>
            </a:avLst>
          </a:prstGeom>
          <a:solidFill>
            <a:schemeClr val="accent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7"/>
          <p:cNvSpPr/>
          <p:nvPr/>
        </p:nvSpPr>
        <p:spPr>
          <a:xfrm rot="1073312">
            <a:off x="5128184" y="2434831"/>
            <a:ext cx="330367" cy="1367693"/>
          </a:xfrm>
          <a:prstGeom prst="downArrow">
            <a:avLst>
              <a:gd name="adj1" fmla="val 50000"/>
              <a:gd name="adj2" fmla="val 50000"/>
            </a:avLst>
          </a:prstGeom>
          <a:solidFill>
            <a:schemeClr val="accent2"/>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8"/>
          <p:cNvSpPr/>
          <p:nvPr/>
        </p:nvSpPr>
        <p:spPr>
          <a:xfrm>
            <a:off x="251520" y="260648"/>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Labirinto Notas</a:t>
            </a:r>
            <a:endParaRPr sz="1200">
              <a:solidFill>
                <a:schemeClr val="dk1"/>
              </a:solidFill>
              <a:latin typeface="Calibri"/>
              <a:ea typeface="Calibri"/>
              <a:cs typeface="Calibri"/>
              <a:sym typeface="Calibri"/>
            </a:endParaRPr>
          </a:p>
        </p:txBody>
      </p:sp>
      <p:sp>
        <p:nvSpPr>
          <p:cNvPr id="262" name="Google Shape;262;p8"/>
          <p:cNvSpPr/>
          <p:nvPr/>
        </p:nvSpPr>
        <p:spPr>
          <a:xfrm>
            <a:off x="251520" y="1412776"/>
            <a:ext cx="8208912"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b="1">
                <a:solidFill>
                  <a:schemeClr val="dk1"/>
                </a:solidFill>
                <a:latin typeface="Calibri"/>
                <a:ea typeface="Calibri"/>
                <a:cs typeface="Calibri"/>
                <a:sym typeface="Calibri"/>
              </a:rPr>
              <a:t>Formulários HTML</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Os formulários para o administrador não são para serem implementados.</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Para os utilizadores da equipe apenas é necessário:</a:t>
            </a:r>
            <a:endParaRPr/>
          </a:p>
          <a:p>
            <a:pPr marL="171450" marR="0" lvl="0" indent="-171450" algn="l" rtl="0">
              <a:spcBef>
                <a:spcPts val="0"/>
              </a:spcBef>
              <a:spcAft>
                <a:spcPts val="0"/>
              </a:spcAft>
              <a:buClr>
                <a:schemeClr val="dk1"/>
              </a:buClr>
              <a:buSzPts val="1200"/>
              <a:buFont typeface="Arial"/>
              <a:buChar char="•"/>
            </a:pPr>
            <a:r>
              <a:rPr lang="pt-PT" sz="1200">
                <a:solidFill>
                  <a:schemeClr val="dk1"/>
                </a:solidFill>
                <a:latin typeface="Calibri"/>
                <a:ea typeface="Calibri"/>
                <a:cs typeface="Calibri"/>
                <a:sym typeface="Calibri"/>
              </a:rPr>
              <a:t>Fazer login</a:t>
            </a:r>
            <a:endParaRPr/>
          </a:p>
          <a:p>
            <a:pPr marL="171450" marR="0" lvl="0" indent="-171450" algn="l" rtl="0">
              <a:spcBef>
                <a:spcPts val="0"/>
              </a:spcBef>
              <a:spcAft>
                <a:spcPts val="0"/>
              </a:spcAft>
              <a:buClr>
                <a:schemeClr val="dk1"/>
              </a:buClr>
              <a:buSzPts val="1200"/>
              <a:buFont typeface="Arial"/>
              <a:buChar char="•"/>
            </a:pPr>
            <a:r>
              <a:rPr lang="pt-PT" sz="1200">
                <a:solidFill>
                  <a:schemeClr val="dk1"/>
                </a:solidFill>
                <a:latin typeface="Calibri"/>
                <a:ea typeface="Calibri"/>
                <a:cs typeface="Calibri"/>
                <a:sym typeface="Calibri"/>
              </a:rPr>
              <a:t>Criar (ou selecionar um de uma lista de simulações seus para alterar) uma simulação (ou configuração de simulação ) (tabela simulação e outras criadas pelo grupo) e, para essa simulação , editar os valores associados. Quando está a alterar não pode alterar valores de chaves estrangeiras e primárias. Não é suposto editar uma simulação quando ele está a decorrer. Todo os outros acessos são feitos diretamente na base de dados (ou diretamente ou SPs, decisão do grupo excepto se SPs obrigatórios).</a:t>
            </a:r>
            <a:endParaRPr/>
          </a:p>
          <a:p>
            <a:pPr marL="171450" marR="0" lvl="0" indent="-171450" algn="l" rtl="0">
              <a:spcBef>
                <a:spcPts val="0"/>
              </a:spcBef>
              <a:spcAft>
                <a:spcPts val="0"/>
              </a:spcAft>
              <a:buClr>
                <a:schemeClr val="dk1"/>
              </a:buClr>
              <a:buSzPts val="1200"/>
              <a:buFont typeface="Arial"/>
              <a:buChar char="•"/>
            </a:pPr>
            <a:r>
              <a:rPr lang="pt-PT" sz="1200">
                <a:solidFill>
                  <a:schemeClr val="dk1"/>
                </a:solidFill>
                <a:latin typeface="Calibri"/>
                <a:ea typeface="Calibri"/>
                <a:cs typeface="Calibri"/>
                <a:sym typeface="Calibri"/>
              </a:rPr>
              <a:t>Botão “Iniciar” para iniciar uma simulação (por exemplo, php que  chama um executável python ou batch file no computador local.</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3" name="Google Shape;263;p8"/>
          <p:cNvSpPr/>
          <p:nvPr/>
        </p:nvSpPr>
        <p:spPr>
          <a:xfrm>
            <a:off x="251520" y="4221088"/>
            <a:ext cx="8434624"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b="1">
                <a:solidFill>
                  <a:schemeClr val="dk1"/>
                </a:solidFill>
                <a:latin typeface="Calibri"/>
                <a:ea typeface="Calibri"/>
                <a:cs typeface="Calibri"/>
                <a:sym typeface="Calibri"/>
              </a:rPr>
              <a:t>Início e Fim de Simulação</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A simulação começa quando o grupo o iniciar (por um ou vários programas python ou html). Termina automaticamente quando todos os corredores têm o status “2” / cansaço (note-se que quando os corredores se fecham porque foi atingido o limite de temperatura ou ruído, os marsamis ficam imóveis até se “cansarem”).</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Os dados dos sensores de ruído e temperatura apenas necessitam ser armazenados enquanto decorre a experiência.</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No telemóvel aparece um gráfico que mostra para cada sala quantos marsamis lá estão (odd e even), gráfico do ruído, gráfico da temperatura.</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4" name="Google Shape;264;p8"/>
          <p:cNvSpPr/>
          <p:nvPr/>
        </p:nvSpPr>
        <p:spPr>
          <a:xfrm>
            <a:off x="260439" y="3339192"/>
            <a:ext cx="820891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b="1">
                <a:solidFill>
                  <a:schemeClr val="dk1"/>
                </a:solidFill>
                <a:latin typeface="Calibri"/>
                <a:ea typeface="Calibri"/>
                <a:cs typeface="Calibri"/>
                <a:sym typeface="Calibri"/>
              </a:rPr>
              <a:t>Diversos</a:t>
            </a:r>
            <a:endParaRPr sz="1200">
              <a:solidFill>
                <a:schemeClr val="dk1"/>
              </a:solidFill>
              <a:latin typeface="Calibri"/>
              <a:ea typeface="Calibri"/>
              <a:cs typeface="Calibri"/>
              <a:sym typeface="Calibri"/>
            </a:endParaRPr>
          </a:p>
          <a:p>
            <a:pPr marL="171450" marR="0" lvl="0" indent="-171450" algn="l" rtl="0">
              <a:spcBef>
                <a:spcPts val="0"/>
              </a:spcBef>
              <a:spcAft>
                <a:spcPts val="0"/>
              </a:spcAft>
              <a:buClr>
                <a:schemeClr val="dk1"/>
              </a:buClr>
              <a:buSzPts val="1200"/>
              <a:buFont typeface="Arial"/>
              <a:buChar char="•"/>
            </a:pPr>
            <a:r>
              <a:rPr lang="pt-PT" sz="1200">
                <a:solidFill>
                  <a:schemeClr val="dk1"/>
                </a:solidFill>
                <a:latin typeface="Calibri"/>
                <a:ea typeface="Calibri"/>
                <a:cs typeface="Calibri"/>
                <a:sym typeface="Calibri"/>
              </a:rPr>
              <a:t>Apenas os utilizadores da equipe podem editar na base de dados a informação (campos) das simulações que criaram, quer diretamente na BD quer através de SPs (chamados pelo php ou chamados diretamente na bd).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9"/>
          <p:cNvSpPr/>
          <p:nvPr/>
        </p:nvSpPr>
        <p:spPr>
          <a:xfrm>
            <a:off x="251520" y="147162"/>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Bases de Dados Local (PC2)</a:t>
            </a:r>
            <a:endParaRPr sz="1200">
              <a:solidFill>
                <a:schemeClr val="dk1"/>
              </a:solidFill>
              <a:latin typeface="Calibri"/>
              <a:ea typeface="Calibri"/>
              <a:cs typeface="Calibri"/>
              <a:sym typeface="Calibri"/>
            </a:endParaRPr>
          </a:p>
        </p:txBody>
      </p:sp>
      <p:sp>
        <p:nvSpPr>
          <p:cNvPr id="270" name="Google Shape;270;p9"/>
          <p:cNvSpPr/>
          <p:nvPr/>
        </p:nvSpPr>
        <p:spPr>
          <a:xfrm>
            <a:off x="4572000" y="4075868"/>
            <a:ext cx="4352451"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Pode ser alterada pelo grupo, com mais tabelas, novos campos nas tabelas existentes, nomeadamente para guardar mais informação.</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As tabelas a amarelo são lidas pelo android, o que for alterado tem de ser alterado nos scripts/android. A tabela Ocupações Labirinto indica no momento quantos marsamis estão em cada sala. Na tabela mensagens todos os campos são opcionais.</a:t>
            </a:r>
            <a:endParaRPr/>
          </a:p>
        </p:txBody>
      </p:sp>
      <p:sp>
        <p:nvSpPr>
          <p:cNvPr id="271" name="Google Shape;271;p9"/>
          <p:cNvSpPr/>
          <p:nvPr/>
        </p:nvSpPr>
        <p:spPr>
          <a:xfrm>
            <a:off x="4932040" y="1783848"/>
            <a:ext cx="3192900" cy="24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Valores válidos 1  ()temperatura) e 2 (Ruído)</a:t>
            </a:r>
            <a:endParaRPr/>
          </a:p>
        </p:txBody>
      </p:sp>
      <p:sp>
        <p:nvSpPr>
          <p:cNvPr id="272" name="Google Shape;272;p9"/>
          <p:cNvSpPr/>
          <p:nvPr/>
        </p:nvSpPr>
        <p:spPr>
          <a:xfrm>
            <a:off x="5220072" y="2585572"/>
            <a:ext cx="3193032"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Hora em que foi feito o insert, não necessariamente igual à hora em que a medição que gerou a mensagem foi registada.</a:t>
            </a:r>
            <a:endParaRPr/>
          </a:p>
        </p:txBody>
      </p:sp>
      <p:sp>
        <p:nvSpPr>
          <p:cNvPr id="273" name="Google Shape;273;p9"/>
          <p:cNvSpPr/>
          <p:nvPr/>
        </p:nvSpPr>
        <p:spPr>
          <a:xfrm>
            <a:off x="5210301" y="2184710"/>
            <a:ext cx="3193032"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000">
                <a:solidFill>
                  <a:schemeClr val="dk1"/>
                </a:solidFill>
                <a:latin typeface="Calibri"/>
                <a:ea typeface="Calibri"/>
                <a:cs typeface="Calibri"/>
                <a:sym typeface="Calibri"/>
              </a:rPr>
              <a:t>Valor de temperatura ou som enviado pelo sensor</a:t>
            </a:r>
            <a:endParaRPr/>
          </a:p>
        </p:txBody>
      </p:sp>
      <p:pic>
        <p:nvPicPr>
          <p:cNvPr id="274" name="Google Shape;274;p9"/>
          <p:cNvPicPr preferRelativeResize="0"/>
          <p:nvPr/>
        </p:nvPicPr>
        <p:blipFill>
          <a:blip r:embed="rId3">
            <a:alphaModFix/>
          </a:blip>
          <a:stretch>
            <a:fillRect/>
          </a:stretch>
        </p:blipFill>
        <p:spPr>
          <a:xfrm>
            <a:off x="321450" y="861358"/>
            <a:ext cx="3884200" cy="5156775"/>
          </a:xfrm>
          <a:prstGeom prst="rect">
            <a:avLst/>
          </a:prstGeom>
          <a:noFill/>
          <a:ln>
            <a:noFill/>
          </a:ln>
        </p:spPr>
      </p:pic>
      <p:cxnSp>
        <p:nvCxnSpPr>
          <p:cNvPr id="275" name="Google Shape;275;p9"/>
          <p:cNvCxnSpPr/>
          <p:nvPr/>
        </p:nvCxnSpPr>
        <p:spPr>
          <a:xfrm rot="10800000" flipH="1">
            <a:off x="3668168" y="2276872"/>
            <a:ext cx="1467682" cy="1247429"/>
          </a:xfrm>
          <a:prstGeom prst="straightConnector1">
            <a:avLst/>
          </a:prstGeom>
          <a:noFill/>
          <a:ln w="9525" cap="flat" cmpd="sng">
            <a:solidFill>
              <a:srgbClr val="4A7DBA"/>
            </a:solidFill>
            <a:prstDash val="solid"/>
            <a:round/>
            <a:headEnd type="none" w="sm" len="sm"/>
            <a:tailEnd type="triangle" w="med" len="med"/>
          </a:ln>
        </p:spPr>
      </p:cxnSp>
      <p:cxnSp>
        <p:nvCxnSpPr>
          <p:cNvPr id="276" name="Google Shape;276;p9"/>
          <p:cNvCxnSpPr/>
          <p:nvPr/>
        </p:nvCxnSpPr>
        <p:spPr>
          <a:xfrm rot="10800000" flipH="1">
            <a:off x="3236120" y="1926046"/>
            <a:ext cx="1653000" cy="1423500"/>
          </a:xfrm>
          <a:prstGeom prst="straightConnector1">
            <a:avLst/>
          </a:prstGeom>
          <a:noFill/>
          <a:ln w="9525" cap="flat" cmpd="sng">
            <a:solidFill>
              <a:srgbClr val="4A7DBA"/>
            </a:solidFill>
            <a:prstDash val="solid"/>
            <a:round/>
            <a:headEnd type="none" w="sm" len="sm"/>
            <a:tailEnd type="triangle" w="med" len="med"/>
          </a:ln>
        </p:spPr>
      </p:cxnSp>
      <p:cxnSp>
        <p:nvCxnSpPr>
          <p:cNvPr id="277" name="Google Shape;277;p9"/>
          <p:cNvCxnSpPr/>
          <p:nvPr/>
        </p:nvCxnSpPr>
        <p:spPr>
          <a:xfrm rot="10800000" flipH="1">
            <a:off x="3792125" y="2776175"/>
            <a:ext cx="1343725" cy="1400068"/>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0"/>
          <p:cNvSpPr/>
          <p:nvPr/>
        </p:nvSpPr>
        <p:spPr>
          <a:xfrm>
            <a:off x="251520" y="147162"/>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Bases de Dados Mysql Nuvem</a:t>
            </a:r>
            <a:endParaRPr sz="1200">
              <a:solidFill>
                <a:schemeClr val="dk1"/>
              </a:solidFill>
              <a:latin typeface="Calibri"/>
              <a:ea typeface="Calibri"/>
              <a:cs typeface="Calibri"/>
              <a:sym typeface="Calibri"/>
            </a:endParaRPr>
          </a:p>
        </p:txBody>
      </p:sp>
      <p:sp>
        <p:nvSpPr>
          <p:cNvPr id="283" name="Google Shape;283;p10"/>
          <p:cNvSpPr/>
          <p:nvPr/>
        </p:nvSpPr>
        <p:spPr>
          <a:xfrm>
            <a:off x="2627774" y="5049025"/>
            <a:ext cx="40401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Os valores não são alterados a meio de uma simulação.</a:t>
            </a:r>
            <a:r>
              <a:rPr lang="pt-PT" sz="1200" b="1">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84" name="Google Shape;284;p10"/>
          <p:cNvSpPr/>
          <p:nvPr/>
        </p:nvSpPr>
        <p:spPr>
          <a:xfrm>
            <a:off x="1979712" y="793493"/>
            <a:ext cx="561662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400">
                <a:solidFill>
                  <a:schemeClr val="dk1"/>
                </a:solidFill>
                <a:latin typeface="Calibri"/>
                <a:ea typeface="Calibri"/>
                <a:cs typeface="Calibri"/>
                <a:sym typeface="Calibri"/>
              </a:rPr>
              <a:t>Base de Dados sempre online, pronta a ser consultada (apenas read only)</a:t>
            </a:r>
            <a:endParaRPr/>
          </a:p>
        </p:txBody>
      </p:sp>
      <p:pic>
        <p:nvPicPr>
          <p:cNvPr id="285" name="Google Shape;285;p10"/>
          <p:cNvPicPr preferRelativeResize="0"/>
          <p:nvPr/>
        </p:nvPicPr>
        <p:blipFill rotWithShape="1">
          <a:blip r:embed="rId3">
            <a:alphaModFix/>
          </a:blip>
          <a:srcRect/>
          <a:stretch/>
        </p:blipFill>
        <p:spPr>
          <a:xfrm>
            <a:off x="1259632" y="1556792"/>
            <a:ext cx="6849431" cy="3077004"/>
          </a:xfrm>
          <a:prstGeom prst="rect">
            <a:avLst/>
          </a:prstGeom>
          <a:noFill/>
          <a:ln>
            <a:noFill/>
          </a:ln>
        </p:spPr>
      </p:pic>
      <p:sp>
        <p:nvSpPr>
          <p:cNvPr id="286" name="Google Shape;286;p10"/>
          <p:cNvSpPr txBox="1"/>
          <p:nvPr/>
        </p:nvSpPr>
        <p:spPr>
          <a:xfrm>
            <a:off x="2810695" y="5589240"/>
            <a:ext cx="352260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b="1">
                <a:solidFill>
                  <a:schemeClr val="dk1"/>
                </a:solidFill>
                <a:latin typeface="Calibri"/>
                <a:ea typeface="Calibri"/>
                <a:cs typeface="Calibri"/>
                <a:sym typeface="Calibri"/>
              </a:rPr>
              <a:t>Database maze</a:t>
            </a:r>
            <a:endParaRPr/>
          </a:p>
          <a:p>
            <a:pPr marL="0" marR="0" lvl="0" indent="0" algn="l" rtl="0">
              <a:spcBef>
                <a:spcPts val="0"/>
              </a:spcBef>
              <a:spcAft>
                <a:spcPts val="0"/>
              </a:spcAft>
              <a:buNone/>
            </a:pPr>
            <a:endParaRPr sz="1200" b="1">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Host: 194.210.86 10   Username/Senha: aluno/aluno </a:t>
            </a:r>
            <a:endParaRPr/>
          </a:p>
        </p:txBody>
      </p:sp>
      <p:sp>
        <p:nvSpPr>
          <p:cNvPr id="287" name="Google Shape;287;p10"/>
          <p:cNvSpPr txBox="1"/>
          <p:nvPr/>
        </p:nvSpPr>
        <p:spPr>
          <a:xfrm>
            <a:off x="2804912" y="6235571"/>
            <a:ext cx="437168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mysql --user=aluno --password=aluno --host 194.210.86.10  maze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1"/>
          <p:cNvSpPr/>
          <p:nvPr/>
        </p:nvSpPr>
        <p:spPr>
          <a:xfrm>
            <a:off x="257359" y="98049"/>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Interagir Labirinto (Servidor)</a:t>
            </a:r>
            <a:endParaRPr sz="1200">
              <a:solidFill>
                <a:schemeClr val="dk1"/>
              </a:solidFill>
              <a:latin typeface="Calibri"/>
              <a:ea typeface="Calibri"/>
              <a:cs typeface="Calibri"/>
              <a:sym typeface="Calibri"/>
            </a:endParaRPr>
          </a:p>
        </p:txBody>
      </p:sp>
      <p:sp>
        <p:nvSpPr>
          <p:cNvPr id="294" name="Google Shape;294;p11"/>
          <p:cNvSpPr txBox="1"/>
          <p:nvPr/>
        </p:nvSpPr>
        <p:spPr>
          <a:xfrm>
            <a:off x="179512" y="1078441"/>
            <a:ext cx="4572000" cy="23544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1) Sensores de ruído</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mqtt_topic=pisid_mazesound_</a:t>
            </a:r>
            <a:r>
              <a:rPr lang="pt-PT" sz="1200" i="1">
                <a:solidFill>
                  <a:schemeClr val="dk1"/>
                </a:solidFill>
                <a:latin typeface="Calibri"/>
                <a:ea typeface="Calibri"/>
                <a:cs typeface="Calibri"/>
                <a:sym typeface="Calibri"/>
              </a:rPr>
              <a:t>n</a:t>
            </a:r>
            <a:r>
              <a:rPr lang="pt-PT" sz="1200">
                <a:solidFill>
                  <a:schemeClr val="dk1"/>
                </a:solidFill>
                <a:latin typeface="Calibri"/>
                <a:ea typeface="Calibri"/>
                <a:cs typeface="Calibri"/>
                <a:sym typeface="Calibri"/>
              </a:rPr>
              <a:t> (em que n é o numero do jogador)</a:t>
            </a:r>
            <a:endParaRPr/>
          </a:p>
          <a:p>
            <a:pPr marL="0" marR="0" lvl="0" indent="0" algn="l" rtl="0">
              <a:spcBef>
                <a:spcPts val="600"/>
              </a:spcBef>
              <a:spcAft>
                <a:spcPts val="0"/>
              </a:spcAft>
              <a:buNone/>
            </a:pPr>
            <a:r>
              <a:rPr lang="pt-PT" sz="1200">
                <a:solidFill>
                  <a:schemeClr val="dk1"/>
                </a:solidFill>
                <a:latin typeface="Calibri"/>
                <a:ea typeface="Calibri"/>
                <a:cs typeface="Calibri"/>
                <a:sym typeface="Calibri"/>
              </a:rPr>
              <a:t>{Player:11, Hour: "2024-07-04 16:29:21.281898", Sound: 19.0}</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2) Sensores de temperatura</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mqtt_topic=pisid_mazetemp_</a:t>
            </a:r>
            <a:r>
              <a:rPr lang="pt-PT" sz="1200" i="1">
                <a:solidFill>
                  <a:schemeClr val="dk1"/>
                </a:solidFill>
                <a:latin typeface="Calibri"/>
                <a:ea typeface="Calibri"/>
                <a:cs typeface="Calibri"/>
                <a:sym typeface="Calibri"/>
              </a:rPr>
              <a:t>n</a:t>
            </a:r>
            <a:r>
              <a:rPr lang="pt-PT" sz="1200">
                <a:solidFill>
                  <a:schemeClr val="dk1"/>
                </a:solidFill>
                <a:latin typeface="Calibri"/>
                <a:ea typeface="Calibri"/>
                <a:cs typeface="Calibri"/>
                <a:sym typeface="Calibri"/>
              </a:rPr>
              <a:t> (em que n é o numero do jogador)</a:t>
            </a:r>
            <a:endParaRPr/>
          </a:p>
          <a:p>
            <a:pPr marL="0" marR="0" lvl="0" indent="0" algn="l" rtl="0">
              <a:spcBef>
                <a:spcPts val="600"/>
              </a:spcBef>
              <a:spcAft>
                <a:spcPts val="0"/>
              </a:spcAft>
              <a:buNone/>
            </a:pPr>
            <a:r>
              <a:rPr lang="pt-PT" sz="1200">
                <a:solidFill>
                  <a:schemeClr val="dk1"/>
                </a:solidFill>
                <a:latin typeface="Calibri"/>
                <a:ea typeface="Calibri"/>
                <a:cs typeface="Calibri"/>
                <a:sym typeface="Calibri"/>
              </a:rPr>
              <a:t>{Player:11, Hour: "2024-07-04 16:29:21.281898", Temperature: 19.0}</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3) Sensores de movimento</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mqtt_topic=pisid_mazemov_</a:t>
            </a:r>
            <a:r>
              <a:rPr lang="pt-PT" sz="1200" i="1">
                <a:solidFill>
                  <a:schemeClr val="dk1"/>
                </a:solidFill>
                <a:latin typeface="Calibri"/>
                <a:ea typeface="Calibri"/>
                <a:cs typeface="Calibri"/>
                <a:sym typeface="Calibri"/>
              </a:rPr>
              <a:t>n</a:t>
            </a:r>
            <a:r>
              <a:rPr lang="pt-PT" sz="1200">
                <a:solidFill>
                  <a:schemeClr val="dk1"/>
                </a:solidFill>
                <a:latin typeface="Calibri"/>
                <a:ea typeface="Calibri"/>
                <a:cs typeface="Calibri"/>
                <a:sym typeface="Calibri"/>
              </a:rPr>
              <a:t> (em que n é o numero do jogador)</a:t>
            </a:r>
            <a:endParaRPr/>
          </a:p>
          <a:p>
            <a:pPr marL="0" marR="0" lvl="0" indent="0" algn="l" rtl="0">
              <a:spcBef>
                <a:spcPts val="600"/>
              </a:spcBef>
              <a:spcAft>
                <a:spcPts val="0"/>
              </a:spcAft>
              <a:buNone/>
            </a:pPr>
            <a:r>
              <a:rPr lang="pt-PT" sz="1200">
                <a:solidFill>
                  <a:schemeClr val="dk1"/>
                </a:solidFill>
                <a:latin typeface="Calibri"/>
                <a:ea typeface="Calibri"/>
                <a:cs typeface="Calibri"/>
                <a:sym typeface="Calibri"/>
              </a:rPr>
              <a:t>{Player:1, Marsami:47, RoomOrigin:4, RoomDestiny: 5, Status:1}</a:t>
            </a:r>
            <a:endParaRPr/>
          </a:p>
        </p:txBody>
      </p:sp>
      <p:sp>
        <p:nvSpPr>
          <p:cNvPr id="295" name="Google Shape;295;p11"/>
          <p:cNvSpPr/>
          <p:nvPr/>
        </p:nvSpPr>
        <p:spPr>
          <a:xfrm>
            <a:off x="154410" y="735850"/>
            <a:ext cx="3481486"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Sensores (receber mensagens)</a:t>
            </a:r>
            <a:endParaRPr/>
          </a:p>
        </p:txBody>
      </p:sp>
      <p:sp>
        <p:nvSpPr>
          <p:cNvPr id="296" name="Google Shape;296;p11"/>
          <p:cNvSpPr txBox="1"/>
          <p:nvPr/>
        </p:nvSpPr>
        <p:spPr>
          <a:xfrm>
            <a:off x="147833" y="3977189"/>
            <a:ext cx="4131559"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pt-PT" sz="1200" dirty="0" err="1">
                <a:solidFill>
                  <a:schemeClr val="dk1"/>
                </a:solidFill>
                <a:latin typeface="Calibri"/>
                <a:ea typeface="Calibri"/>
                <a:cs typeface="Calibri"/>
                <a:sym typeface="Calibri"/>
              </a:rPr>
              <a:t>Mqtt_topic</a:t>
            </a:r>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pisid_mazeact</a:t>
            </a:r>
            <a:r>
              <a:rPr lang="pt-PT"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Type</a:t>
            </a:r>
            <a:r>
              <a:rPr lang="pt-PT" sz="1200" dirty="0">
                <a:solidFill>
                  <a:schemeClr val="dk1"/>
                </a:solidFill>
                <a:latin typeface="Calibri"/>
                <a:ea typeface="Calibri"/>
                <a:cs typeface="Calibri"/>
                <a:sym typeface="Calibri"/>
              </a:rPr>
              <a:t>: Score, Player:1, </a:t>
            </a:r>
            <a:r>
              <a:rPr lang="pt-PT" sz="1200" dirty="0" err="1">
                <a:solidFill>
                  <a:schemeClr val="dk1"/>
                </a:solidFill>
                <a:latin typeface="Calibri"/>
                <a:ea typeface="Calibri"/>
                <a:cs typeface="Calibri"/>
                <a:sym typeface="Calibri"/>
              </a:rPr>
              <a:t>Room</a:t>
            </a:r>
            <a:r>
              <a:rPr lang="pt-PT" sz="1200" dirty="0">
                <a:solidFill>
                  <a:schemeClr val="dk1"/>
                </a:solidFill>
                <a:latin typeface="Calibri"/>
                <a:ea typeface="Calibri"/>
                <a:cs typeface="Calibri"/>
                <a:sym typeface="Calibri"/>
              </a:rPr>
              <a:t>: 2}</a:t>
            </a:r>
            <a:endParaRPr dirty="0"/>
          </a:p>
          <a:p>
            <a:pPr marL="0" marR="0" lvl="0" indent="0" algn="l" rtl="0">
              <a:spcBef>
                <a:spcPts val="0"/>
              </a:spcBef>
              <a:spcAft>
                <a:spcPts val="0"/>
              </a:spcAft>
              <a:buNone/>
            </a:pPr>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Type</a:t>
            </a:r>
            <a:r>
              <a:rPr lang="pt-PT" sz="1200" dirty="0">
                <a:solidFill>
                  <a:schemeClr val="dk1"/>
                </a:solidFill>
                <a:latin typeface="Calibri"/>
                <a:ea typeface="Calibri"/>
                <a:cs typeface="Calibri"/>
                <a:sym typeface="Calibri"/>
              </a:rPr>
              <a:t>: </a:t>
            </a:r>
            <a:r>
              <a:rPr lang="pt-PT" sz="1200" dirty="0" err="1">
                <a:solidFill>
                  <a:schemeClr val="dk1"/>
                </a:solidFill>
                <a:latin typeface="Calibri"/>
                <a:ea typeface="Calibri"/>
                <a:cs typeface="Calibri"/>
                <a:sym typeface="Calibri"/>
              </a:rPr>
              <a:t>OpenDoor</a:t>
            </a:r>
            <a:r>
              <a:rPr lang="pt-PT" sz="1200" dirty="0">
                <a:solidFill>
                  <a:schemeClr val="dk1"/>
                </a:solidFill>
                <a:latin typeface="Calibri"/>
                <a:ea typeface="Calibri"/>
                <a:cs typeface="Calibri"/>
                <a:sym typeface="Calibri"/>
              </a:rPr>
              <a:t>, Player:1, </a:t>
            </a:r>
            <a:r>
              <a:rPr lang="pt-PT" sz="1200" dirty="0" err="1">
                <a:solidFill>
                  <a:schemeClr val="dk1"/>
                </a:solidFill>
                <a:latin typeface="Calibri"/>
                <a:ea typeface="Calibri"/>
                <a:cs typeface="Calibri"/>
                <a:sym typeface="Calibri"/>
              </a:rPr>
              <a:t>RoomOrigin</a:t>
            </a:r>
            <a:r>
              <a:rPr lang="pt-PT" sz="1200" dirty="0">
                <a:solidFill>
                  <a:schemeClr val="dk1"/>
                </a:solidFill>
                <a:latin typeface="Calibri"/>
                <a:ea typeface="Calibri"/>
                <a:cs typeface="Calibri"/>
                <a:sym typeface="Calibri"/>
              </a:rPr>
              <a:t>: 3, </a:t>
            </a:r>
            <a:r>
              <a:rPr lang="pt-PT" sz="1200" dirty="0" err="1">
                <a:solidFill>
                  <a:schemeClr val="dk1"/>
                </a:solidFill>
                <a:latin typeface="Calibri"/>
                <a:ea typeface="Calibri"/>
                <a:cs typeface="Calibri"/>
                <a:sym typeface="Calibri"/>
              </a:rPr>
              <a:t>RoomDestiny</a:t>
            </a:r>
            <a:r>
              <a:rPr lang="pt-PT" sz="1200" dirty="0">
                <a:solidFill>
                  <a:schemeClr val="dk1"/>
                </a:solidFill>
                <a:latin typeface="Calibri"/>
                <a:ea typeface="Calibri"/>
                <a:cs typeface="Calibri"/>
                <a:sym typeface="Calibri"/>
              </a:rPr>
              <a:t>: 2}</a:t>
            </a:r>
            <a:endParaRPr dirty="0"/>
          </a:p>
          <a:p>
            <a:pPr marL="0" marR="0" lvl="0" indent="0" algn="l" rtl="0">
              <a:spcBef>
                <a:spcPts val="0"/>
              </a:spcBef>
              <a:spcAft>
                <a:spcPts val="0"/>
              </a:spcAft>
              <a:buNone/>
            </a:pPr>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Type</a:t>
            </a:r>
            <a:r>
              <a:rPr lang="pt-PT" sz="1200" dirty="0">
                <a:solidFill>
                  <a:schemeClr val="dk1"/>
                </a:solidFill>
                <a:latin typeface="Calibri"/>
                <a:ea typeface="Calibri"/>
                <a:cs typeface="Calibri"/>
                <a:sym typeface="Calibri"/>
              </a:rPr>
              <a:t>: </a:t>
            </a:r>
            <a:r>
              <a:rPr lang="pt-PT" sz="1200" dirty="0" err="1">
                <a:solidFill>
                  <a:schemeClr val="dk1"/>
                </a:solidFill>
                <a:latin typeface="Calibri"/>
                <a:ea typeface="Calibri"/>
                <a:cs typeface="Calibri"/>
                <a:sym typeface="Calibri"/>
              </a:rPr>
              <a:t>CloseDoor</a:t>
            </a:r>
            <a:r>
              <a:rPr lang="pt-PT" sz="1200" dirty="0">
                <a:solidFill>
                  <a:schemeClr val="dk1"/>
                </a:solidFill>
                <a:latin typeface="Calibri"/>
                <a:ea typeface="Calibri"/>
                <a:cs typeface="Calibri"/>
                <a:sym typeface="Calibri"/>
              </a:rPr>
              <a:t>, Player:1, </a:t>
            </a:r>
            <a:r>
              <a:rPr lang="pt-PT" sz="1200" dirty="0" err="1">
                <a:solidFill>
                  <a:schemeClr val="dk1"/>
                </a:solidFill>
                <a:latin typeface="Calibri"/>
                <a:ea typeface="Calibri"/>
                <a:cs typeface="Calibri"/>
                <a:sym typeface="Calibri"/>
              </a:rPr>
              <a:t>RoomOrigin</a:t>
            </a:r>
            <a:r>
              <a:rPr lang="pt-PT" sz="1200" dirty="0">
                <a:solidFill>
                  <a:schemeClr val="dk1"/>
                </a:solidFill>
                <a:latin typeface="Calibri"/>
                <a:ea typeface="Calibri"/>
                <a:cs typeface="Calibri"/>
                <a:sym typeface="Calibri"/>
              </a:rPr>
              <a:t>: 3, </a:t>
            </a:r>
            <a:r>
              <a:rPr lang="pt-PT" sz="1200" dirty="0" err="1">
                <a:solidFill>
                  <a:schemeClr val="dk1"/>
                </a:solidFill>
                <a:latin typeface="Calibri"/>
                <a:ea typeface="Calibri"/>
                <a:cs typeface="Calibri"/>
                <a:sym typeface="Calibri"/>
              </a:rPr>
              <a:t>RoomDestiny</a:t>
            </a:r>
            <a:r>
              <a:rPr lang="pt-PT" sz="1200" dirty="0">
                <a:solidFill>
                  <a:schemeClr val="dk1"/>
                </a:solidFill>
                <a:latin typeface="Calibri"/>
                <a:ea typeface="Calibri"/>
                <a:cs typeface="Calibri"/>
                <a:sym typeface="Calibri"/>
              </a:rPr>
              <a:t>: 2}</a:t>
            </a:r>
            <a:endParaRPr dirty="0"/>
          </a:p>
          <a:p>
            <a:pPr marL="0" marR="0" lvl="0" indent="0" algn="l" rtl="0">
              <a:spcBef>
                <a:spcPts val="0"/>
              </a:spcBef>
              <a:spcAft>
                <a:spcPts val="0"/>
              </a:spcAft>
              <a:buNone/>
            </a:pPr>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Type</a:t>
            </a:r>
            <a:r>
              <a:rPr lang="pt-PT" sz="1200" dirty="0">
                <a:solidFill>
                  <a:schemeClr val="dk1"/>
                </a:solidFill>
                <a:latin typeface="Calibri"/>
                <a:ea typeface="Calibri"/>
                <a:cs typeface="Calibri"/>
                <a:sym typeface="Calibri"/>
              </a:rPr>
              <a:t>: </a:t>
            </a:r>
            <a:r>
              <a:rPr lang="pt-PT" sz="1200" dirty="0" err="1">
                <a:solidFill>
                  <a:schemeClr val="dk1"/>
                </a:solidFill>
                <a:latin typeface="Calibri"/>
                <a:ea typeface="Calibri"/>
                <a:cs typeface="Calibri"/>
                <a:sym typeface="Calibri"/>
              </a:rPr>
              <a:t>CloseAllDoor</a:t>
            </a:r>
            <a:r>
              <a:rPr lang="pt-PT" sz="1200" dirty="0">
                <a:solidFill>
                  <a:schemeClr val="dk1"/>
                </a:solidFill>
                <a:latin typeface="Calibri"/>
                <a:ea typeface="Calibri"/>
                <a:cs typeface="Calibri"/>
                <a:sym typeface="Calibri"/>
              </a:rPr>
              <a:t>, Player:1}</a:t>
            </a:r>
            <a:endParaRPr dirty="0"/>
          </a:p>
          <a:p>
            <a:pPr marL="0" marR="0" lvl="0" indent="0" algn="l" rtl="0">
              <a:spcBef>
                <a:spcPts val="0"/>
              </a:spcBef>
              <a:spcAft>
                <a:spcPts val="0"/>
              </a:spcAft>
              <a:buNone/>
            </a:pPr>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Type</a:t>
            </a:r>
            <a:r>
              <a:rPr lang="pt-PT" sz="1200" dirty="0">
                <a:solidFill>
                  <a:schemeClr val="dk1"/>
                </a:solidFill>
                <a:latin typeface="Calibri"/>
                <a:ea typeface="Calibri"/>
                <a:cs typeface="Calibri"/>
                <a:sym typeface="Calibri"/>
              </a:rPr>
              <a:t>: </a:t>
            </a:r>
            <a:r>
              <a:rPr lang="pt-PT" sz="1200" dirty="0" err="1">
                <a:solidFill>
                  <a:schemeClr val="dk1"/>
                </a:solidFill>
                <a:latin typeface="Calibri"/>
                <a:ea typeface="Calibri"/>
                <a:cs typeface="Calibri"/>
                <a:sym typeface="Calibri"/>
              </a:rPr>
              <a:t>OpenAllDoor</a:t>
            </a:r>
            <a:r>
              <a:rPr lang="pt-PT" sz="1200" dirty="0">
                <a:solidFill>
                  <a:schemeClr val="dk1"/>
                </a:solidFill>
                <a:latin typeface="Calibri"/>
                <a:ea typeface="Calibri"/>
                <a:cs typeface="Calibri"/>
                <a:sym typeface="Calibri"/>
              </a:rPr>
              <a:t>, Player:1}</a:t>
            </a:r>
          </a:p>
          <a:p>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Type</a:t>
            </a:r>
            <a:r>
              <a:rPr lang="pt-PT" sz="1200" dirty="0">
                <a:solidFill>
                  <a:schemeClr val="dk1"/>
                </a:solidFill>
                <a:latin typeface="Calibri"/>
                <a:ea typeface="Calibri"/>
                <a:cs typeface="Calibri"/>
                <a:sym typeface="Calibri"/>
              </a:rPr>
              <a:t>: </a:t>
            </a:r>
            <a:r>
              <a:rPr lang="pt-PT" sz="1200" dirty="0" err="1">
                <a:solidFill>
                  <a:schemeClr val="dk1"/>
                </a:solidFill>
                <a:latin typeface="Calibri"/>
                <a:ea typeface="Calibri"/>
                <a:cs typeface="Calibri"/>
                <a:sym typeface="Calibri"/>
              </a:rPr>
              <a:t>AcOn</a:t>
            </a:r>
            <a:r>
              <a:rPr lang="pt-PT" sz="1200" dirty="0">
                <a:solidFill>
                  <a:schemeClr val="dk1"/>
                </a:solidFill>
                <a:latin typeface="Calibri"/>
                <a:ea typeface="Calibri"/>
                <a:cs typeface="Calibri"/>
                <a:sym typeface="Calibri"/>
              </a:rPr>
              <a:t>, Player:1}</a:t>
            </a:r>
          </a:p>
          <a:p>
            <a:r>
              <a:rPr lang="pt-PT" sz="1200" dirty="0">
                <a:solidFill>
                  <a:schemeClr val="dk1"/>
                </a:solidFill>
                <a:latin typeface="Calibri"/>
                <a:ea typeface="Calibri"/>
                <a:cs typeface="Calibri"/>
                <a:sym typeface="Calibri"/>
              </a:rPr>
              <a:t>{</a:t>
            </a:r>
            <a:r>
              <a:rPr lang="pt-PT" sz="1200" dirty="0" err="1">
                <a:solidFill>
                  <a:schemeClr val="dk1"/>
                </a:solidFill>
                <a:latin typeface="Calibri"/>
                <a:ea typeface="Calibri"/>
                <a:cs typeface="Calibri"/>
                <a:sym typeface="Calibri"/>
              </a:rPr>
              <a:t>Type</a:t>
            </a:r>
            <a:r>
              <a:rPr lang="pt-PT" sz="1200" dirty="0">
                <a:solidFill>
                  <a:schemeClr val="dk1"/>
                </a:solidFill>
                <a:latin typeface="Calibri"/>
                <a:ea typeface="Calibri"/>
                <a:cs typeface="Calibri"/>
                <a:sym typeface="Calibri"/>
              </a:rPr>
              <a:t>: </a:t>
            </a:r>
            <a:r>
              <a:rPr lang="pt-PT" sz="1200" dirty="0" err="1">
                <a:solidFill>
                  <a:schemeClr val="dk1"/>
                </a:solidFill>
                <a:latin typeface="Calibri"/>
                <a:ea typeface="Calibri"/>
                <a:cs typeface="Calibri"/>
                <a:sym typeface="Calibri"/>
              </a:rPr>
              <a:t>AcOff</a:t>
            </a:r>
            <a:r>
              <a:rPr lang="pt-PT" sz="1200" dirty="0">
                <a:solidFill>
                  <a:schemeClr val="dk1"/>
                </a:solidFill>
                <a:latin typeface="Calibri"/>
                <a:ea typeface="Calibri"/>
                <a:cs typeface="Calibri"/>
                <a:sym typeface="Calibri"/>
              </a:rPr>
              <a:t>, Player:1}</a:t>
            </a: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p:txBody>
      </p:sp>
      <p:sp>
        <p:nvSpPr>
          <p:cNvPr id="297" name="Google Shape;297;p11"/>
          <p:cNvSpPr/>
          <p:nvPr/>
        </p:nvSpPr>
        <p:spPr>
          <a:xfrm>
            <a:off x="-481245" y="3744372"/>
            <a:ext cx="232935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Atuadores</a:t>
            </a:r>
            <a:endParaRPr/>
          </a:p>
        </p:txBody>
      </p:sp>
      <p:sp>
        <p:nvSpPr>
          <p:cNvPr id="298" name="Google Shape;298;p11"/>
          <p:cNvSpPr txBox="1"/>
          <p:nvPr/>
        </p:nvSpPr>
        <p:spPr>
          <a:xfrm>
            <a:off x="4572000" y="959621"/>
            <a:ext cx="4417590" cy="28007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C:&gt;mazerun.exe </a:t>
            </a:r>
            <a:r>
              <a:rPr lang="pt-PT" sz="1200" i="1">
                <a:solidFill>
                  <a:schemeClr val="dk1"/>
                </a:solidFill>
                <a:latin typeface="Calibri"/>
                <a:ea typeface="Calibri"/>
                <a:cs typeface="Calibri"/>
                <a:sym typeface="Calibri"/>
              </a:rPr>
              <a:t>numero_grupo</a:t>
            </a:r>
            <a:endParaRPr sz="1200" i="1">
              <a:solidFill>
                <a:schemeClr val="dk1"/>
              </a:solidFill>
              <a:latin typeface="Calibri"/>
              <a:ea typeface="Calibri"/>
              <a:cs typeface="Calibri"/>
              <a:sym typeface="Calibri"/>
            </a:endParaRPr>
          </a:p>
          <a:p>
            <a:pPr marL="0" marR="0" lvl="0" indent="0" algn="l" rtl="0">
              <a:spcBef>
                <a:spcPts val="0"/>
              </a:spcBef>
              <a:spcAft>
                <a:spcPts val="0"/>
              </a:spcAft>
              <a:buNone/>
            </a:pPr>
            <a:r>
              <a:rPr lang="pt-PT" sz="1200" i="1">
                <a:solidFill>
                  <a:schemeClr val="dk1"/>
                </a:solidFill>
                <a:latin typeface="Calibri"/>
                <a:ea typeface="Calibri"/>
                <a:cs typeface="Calibri"/>
                <a:sym typeface="Calibri"/>
              </a:rPr>
              <a:t>Existem parâmetros opcionais: '—flagMessage –delay –broker –portbroker  </a:t>
            </a:r>
            <a:endParaRPr/>
          </a:p>
          <a:p>
            <a:pPr marL="0" marR="0" lvl="0" indent="0" algn="l" rtl="0">
              <a:spcBef>
                <a:spcPts val="0"/>
              </a:spcBef>
              <a:spcAft>
                <a:spcPts val="0"/>
              </a:spcAft>
              <a:buNone/>
            </a:pPr>
            <a:r>
              <a:rPr lang="pt-PT" sz="1200" i="1">
                <a:solidFill>
                  <a:schemeClr val="dk1"/>
                </a:solidFill>
                <a:latin typeface="Calibri"/>
                <a:ea typeface="Calibri"/>
                <a:cs typeface="Calibri"/>
                <a:sym typeface="Calibri"/>
              </a:rPr>
              <a:t>delay é im inteiro e repreenta o número de sehundos entre cada movimento dos marsamis (número elevado significa que os marsamis movem-se lentamente)</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flagMessage – permite seleccionar as mensagsns que são enviadas para a consola: 1 mostra tudo; 2 apenas movimentos; 3 apenas Som; 4 apenas atuadores; 5 apenas temperatura</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Se o servidor mqtt estiver lento podem usar outro, passando-o como argumento junto com o porto. Por exemplo:</a:t>
            </a:r>
            <a:endParaRPr/>
          </a:p>
          <a:p>
            <a:pPr marL="0" marR="0" lvl="0" indent="0" algn="l" rtl="0">
              <a:spcBef>
                <a:spcPts val="0"/>
              </a:spcBef>
              <a:spcAft>
                <a:spcPts val="0"/>
              </a:spcAft>
              <a:buNone/>
            </a:pPr>
            <a:endParaRPr sz="800">
              <a:solidFill>
                <a:schemeClr val="dk1"/>
              </a:solidFill>
              <a:latin typeface="Calibri"/>
              <a:ea typeface="Calibri"/>
              <a:cs typeface="Calibri"/>
              <a:sym typeface="Calibri"/>
            </a:endParaRPr>
          </a:p>
          <a:p>
            <a:pPr marL="0" marR="0" lvl="0" indent="0" algn="l" rtl="0">
              <a:spcBef>
                <a:spcPts val="0"/>
              </a:spcBef>
              <a:spcAft>
                <a:spcPts val="0"/>
              </a:spcAft>
              <a:buNone/>
            </a:pPr>
            <a:r>
              <a:rPr lang="pt-PT" sz="1200" i="1">
                <a:solidFill>
                  <a:schemeClr val="dk1"/>
                </a:solidFill>
                <a:latin typeface="Calibri"/>
                <a:ea typeface="Calibri"/>
                <a:cs typeface="Calibri"/>
                <a:sym typeface="Calibri"/>
              </a:rPr>
              <a:t>C:&gt;</a:t>
            </a:r>
            <a:r>
              <a:rPr lang="pt-PT" sz="1200">
                <a:solidFill>
                  <a:schemeClr val="dk1"/>
                </a:solidFill>
                <a:latin typeface="Calibri"/>
                <a:ea typeface="Calibri"/>
                <a:cs typeface="Calibri"/>
                <a:sym typeface="Calibri"/>
              </a:rPr>
              <a:t> mazerun.exe 30 –broker </a:t>
            </a:r>
            <a:r>
              <a:rPr lang="pt-PT" sz="1200" i="1">
                <a:solidFill>
                  <a:schemeClr val="dk1"/>
                </a:solidFill>
                <a:latin typeface="Calibri"/>
                <a:ea typeface="Calibri"/>
                <a:cs typeface="Calibri"/>
                <a:sym typeface="Calibri"/>
              </a:rPr>
              <a:t>broker.hivemq.com –portbroker 1883</a:t>
            </a:r>
            <a:endParaRPr/>
          </a:p>
        </p:txBody>
      </p:sp>
      <p:sp>
        <p:nvSpPr>
          <p:cNvPr id="299" name="Google Shape;299;p11"/>
          <p:cNvSpPr/>
          <p:nvPr/>
        </p:nvSpPr>
        <p:spPr>
          <a:xfrm>
            <a:off x="4130482" y="697978"/>
            <a:ext cx="396044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Iniciar Simulação/Labirinto</a:t>
            </a:r>
            <a:endParaRPr sz="1000">
              <a:solidFill>
                <a:schemeClr val="dk1"/>
              </a:solidFill>
              <a:latin typeface="Calibri"/>
              <a:ea typeface="Calibri"/>
              <a:cs typeface="Calibri"/>
              <a:sym typeface="Calibri"/>
            </a:endParaRPr>
          </a:p>
        </p:txBody>
      </p:sp>
      <p:sp>
        <p:nvSpPr>
          <p:cNvPr id="300" name="Google Shape;300;p11"/>
          <p:cNvSpPr/>
          <p:nvPr/>
        </p:nvSpPr>
        <p:spPr>
          <a:xfrm>
            <a:off x="4388240" y="4584055"/>
            <a:ext cx="2329358"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MQTT Brokers</a:t>
            </a:r>
            <a:endParaRPr/>
          </a:p>
        </p:txBody>
      </p:sp>
      <p:sp>
        <p:nvSpPr>
          <p:cNvPr id="301" name="Google Shape;301;p11"/>
          <p:cNvSpPr txBox="1"/>
          <p:nvPr/>
        </p:nvSpPr>
        <p:spPr>
          <a:xfrm>
            <a:off x="4582228" y="5085184"/>
            <a:ext cx="4572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Escolher um que esteja oniine e rápido, exemplos:</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cloud_server=tcp://broker.mqtt-dashboard.com:1883</a:t>
            </a:r>
            <a:endParaRPr/>
          </a:p>
          <a:p>
            <a:pPr marL="0" marR="0" lvl="0" indent="0" algn="l" rtl="0">
              <a:spcBef>
                <a:spcPts val="0"/>
              </a:spcBef>
              <a:spcAft>
                <a:spcPts val="0"/>
              </a:spcAft>
              <a:buNone/>
            </a:pPr>
            <a:r>
              <a:rPr lang="pt-PT" sz="1200">
                <a:solidFill>
                  <a:schemeClr val="dk1"/>
                </a:solidFill>
                <a:latin typeface="Calibri"/>
                <a:ea typeface="Calibri"/>
                <a:cs typeface="Calibri"/>
                <a:sym typeface="Calibri"/>
              </a:rPr>
              <a:t>cloud_server=tcp:// </a:t>
            </a:r>
            <a:r>
              <a:rPr lang="pt-PT" sz="1200" i="1">
                <a:solidFill>
                  <a:schemeClr val="dk1"/>
                </a:solidFill>
                <a:latin typeface="Calibri"/>
                <a:ea typeface="Calibri"/>
                <a:cs typeface="Calibri"/>
                <a:sym typeface="Calibri"/>
              </a:rPr>
              <a:t>broker.hivemq.com 1883</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2"/>
          <p:cNvSpPr/>
          <p:nvPr/>
        </p:nvSpPr>
        <p:spPr>
          <a:xfrm>
            <a:off x="257359" y="98049"/>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Monitorizar Labirinto</a:t>
            </a:r>
            <a:endParaRPr sz="1200">
              <a:solidFill>
                <a:schemeClr val="dk1"/>
              </a:solidFill>
              <a:latin typeface="Calibri"/>
              <a:ea typeface="Calibri"/>
              <a:cs typeface="Calibri"/>
              <a:sym typeface="Calibri"/>
            </a:endParaRPr>
          </a:p>
        </p:txBody>
      </p:sp>
      <p:sp>
        <p:nvSpPr>
          <p:cNvPr id="308" name="Google Shape;308;p12"/>
          <p:cNvSpPr txBox="1"/>
          <p:nvPr/>
        </p:nvSpPr>
        <p:spPr>
          <a:xfrm>
            <a:off x="179512" y="1078441"/>
            <a:ext cx="457200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C:&gt; monitmaze.exe n</a:t>
            </a:r>
            <a:endParaRPr/>
          </a:p>
        </p:txBody>
      </p:sp>
      <p:sp>
        <p:nvSpPr>
          <p:cNvPr id="309" name="Google Shape;309;p12"/>
          <p:cNvSpPr/>
          <p:nvPr/>
        </p:nvSpPr>
        <p:spPr>
          <a:xfrm>
            <a:off x="154410" y="735850"/>
            <a:ext cx="3481486"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Movimentos Marsamis</a:t>
            </a:r>
            <a:endParaRPr sz="2000">
              <a:solidFill>
                <a:schemeClr val="dk1"/>
              </a:solidFill>
              <a:latin typeface="Calibri"/>
              <a:ea typeface="Calibri"/>
              <a:cs typeface="Calibri"/>
              <a:sym typeface="Calibri"/>
            </a:endParaRPr>
          </a:p>
        </p:txBody>
      </p:sp>
      <p:sp>
        <p:nvSpPr>
          <p:cNvPr id="310" name="Google Shape;310;p12"/>
          <p:cNvSpPr/>
          <p:nvPr/>
        </p:nvSpPr>
        <p:spPr>
          <a:xfrm>
            <a:off x="4130482" y="697978"/>
            <a:ext cx="396044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Temperatura</a:t>
            </a:r>
            <a:endParaRPr sz="1000">
              <a:solidFill>
                <a:schemeClr val="dk1"/>
              </a:solidFill>
              <a:latin typeface="Calibri"/>
              <a:ea typeface="Calibri"/>
              <a:cs typeface="Calibri"/>
              <a:sym typeface="Calibri"/>
            </a:endParaRPr>
          </a:p>
        </p:txBody>
      </p:sp>
      <p:pic>
        <p:nvPicPr>
          <p:cNvPr id="311" name="Google Shape;311;p12" descr="A screenshot of a game&#10;&#10;AI-generated content may be incorrect."/>
          <p:cNvPicPr preferRelativeResize="0"/>
          <p:nvPr/>
        </p:nvPicPr>
        <p:blipFill rotWithShape="1">
          <a:blip r:embed="rId3">
            <a:alphaModFix/>
          </a:blip>
          <a:srcRect/>
          <a:stretch/>
        </p:blipFill>
        <p:spPr>
          <a:xfrm>
            <a:off x="60222" y="1470020"/>
            <a:ext cx="4767597" cy="4835103"/>
          </a:xfrm>
          <a:prstGeom prst="rect">
            <a:avLst/>
          </a:prstGeom>
          <a:noFill/>
          <a:ln>
            <a:noFill/>
          </a:ln>
        </p:spPr>
      </p:pic>
      <p:sp>
        <p:nvSpPr>
          <p:cNvPr id="312" name="Google Shape;312;p12"/>
          <p:cNvSpPr txBox="1"/>
          <p:nvPr/>
        </p:nvSpPr>
        <p:spPr>
          <a:xfrm>
            <a:off x="5250398" y="1034286"/>
            <a:ext cx="241794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C:&gt; monittemp.exe n</a:t>
            </a:r>
            <a:endParaRPr/>
          </a:p>
        </p:txBody>
      </p:sp>
      <p:sp>
        <p:nvSpPr>
          <p:cNvPr id="313" name="Google Shape;313;p12"/>
          <p:cNvSpPr/>
          <p:nvPr/>
        </p:nvSpPr>
        <p:spPr>
          <a:xfrm>
            <a:off x="4211960" y="3738590"/>
            <a:ext cx="396044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2000">
                <a:solidFill>
                  <a:schemeClr val="dk1"/>
                </a:solidFill>
                <a:latin typeface="Calibri"/>
                <a:ea typeface="Calibri"/>
                <a:cs typeface="Calibri"/>
                <a:sym typeface="Calibri"/>
              </a:rPr>
              <a:t>Ruído</a:t>
            </a:r>
            <a:endParaRPr sz="1000">
              <a:solidFill>
                <a:schemeClr val="dk1"/>
              </a:solidFill>
              <a:latin typeface="Calibri"/>
              <a:ea typeface="Calibri"/>
              <a:cs typeface="Calibri"/>
              <a:sym typeface="Calibri"/>
            </a:endParaRPr>
          </a:p>
        </p:txBody>
      </p:sp>
      <p:sp>
        <p:nvSpPr>
          <p:cNvPr id="314" name="Google Shape;314;p12"/>
          <p:cNvSpPr txBox="1"/>
          <p:nvPr/>
        </p:nvSpPr>
        <p:spPr>
          <a:xfrm>
            <a:off x="5508104" y="4066655"/>
            <a:ext cx="241794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C:&gt; monitsound.exe n</a:t>
            </a:r>
            <a:endParaRPr/>
          </a:p>
        </p:txBody>
      </p:sp>
      <p:pic>
        <p:nvPicPr>
          <p:cNvPr id="315" name="Google Shape;315;p12" descr="A graph of a graph&#10;&#10;AI-generated content may be incorrect."/>
          <p:cNvPicPr preferRelativeResize="0"/>
          <p:nvPr/>
        </p:nvPicPr>
        <p:blipFill rotWithShape="1">
          <a:blip r:embed="rId4">
            <a:alphaModFix/>
          </a:blip>
          <a:srcRect/>
          <a:stretch/>
        </p:blipFill>
        <p:spPr>
          <a:xfrm>
            <a:off x="4804642" y="4343991"/>
            <a:ext cx="4231854" cy="2517572"/>
          </a:xfrm>
          <a:prstGeom prst="rect">
            <a:avLst/>
          </a:prstGeom>
          <a:noFill/>
          <a:ln>
            <a:noFill/>
          </a:ln>
        </p:spPr>
      </p:pic>
      <p:pic>
        <p:nvPicPr>
          <p:cNvPr id="316" name="Google Shape;316;p12" descr="A graph showing the temperature of a person&#10;&#10;AI-generated content may be incorrect."/>
          <p:cNvPicPr preferRelativeResize="0"/>
          <p:nvPr/>
        </p:nvPicPr>
        <p:blipFill rotWithShape="1">
          <a:blip r:embed="rId5">
            <a:alphaModFix/>
          </a:blip>
          <a:srcRect/>
          <a:stretch/>
        </p:blipFill>
        <p:spPr>
          <a:xfrm>
            <a:off x="4992040" y="1330092"/>
            <a:ext cx="4083865" cy="251757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3"/>
          <p:cNvSpPr/>
          <p:nvPr/>
        </p:nvSpPr>
        <p:spPr>
          <a:xfrm>
            <a:off x="257359" y="98049"/>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Interação Android</a:t>
            </a:r>
            <a:endParaRPr sz="1200">
              <a:solidFill>
                <a:schemeClr val="dk1"/>
              </a:solidFill>
              <a:highlight>
                <a:srgbClr val="FFFF00"/>
              </a:highlight>
              <a:latin typeface="Calibri"/>
              <a:ea typeface="Calibri"/>
              <a:cs typeface="Calibri"/>
              <a:sym typeface="Calibri"/>
            </a:endParaRPr>
          </a:p>
        </p:txBody>
      </p:sp>
      <p:pic>
        <p:nvPicPr>
          <p:cNvPr id="323" name="Google Shape;323;p13"/>
          <p:cNvPicPr preferRelativeResize="0"/>
          <p:nvPr/>
        </p:nvPicPr>
        <p:blipFill rotWithShape="1">
          <a:blip r:embed="rId3">
            <a:alphaModFix/>
          </a:blip>
          <a:srcRect/>
          <a:stretch/>
        </p:blipFill>
        <p:spPr>
          <a:xfrm>
            <a:off x="323528" y="1052736"/>
            <a:ext cx="2456232" cy="5019567"/>
          </a:xfrm>
          <a:prstGeom prst="rect">
            <a:avLst/>
          </a:prstGeom>
          <a:noFill/>
          <a:ln>
            <a:noFill/>
          </a:ln>
        </p:spPr>
      </p:pic>
      <p:pic>
        <p:nvPicPr>
          <p:cNvPr id="324" name="Google Shape;324;p13"/>
          <p:cNvPicPr preferRelativeResize="0"/>
          <p:nvPr/>
        </p:nvPicPr>
        <p:blipFill rotWithShape="1">
          <a:blip r:embed="rId4">
            <a:alphaModFix/>
          </a:blip>
          <a:srcRect/>
          <a:stretch/>
        </p:blipFill>
        <p:spPr>
          <a:xfrm>
            <a:off x="2860216" y="1079701"/>
            <a:ext cx="2432451" cy="5019567"/>
          </a:xfrm>
          <a:prstGeom prst="rect">
            <a:avLst/>
          </a:prstGeom>
          <a:noFill/>
          <a:ln>
            <a:noFill/>
          </a:ln>
        </p:spPr>
      </p:pic>
      <p:pic>
        <p:nvPicPr>
          <p:cNvPr id="325" name="Google Shape;325;p13"/>
          <p:cNvPicPr preferRelativeResize="0"/>
          <p:nvPr/>
        </p:nvPicPr>
        <p:blipFill rotWithShape="1">
          <a:blip r:embed="rId5">
            <a:alphaModFix/>
          </a:blip>
          <a:srcRect/>
          <a:stretch/>
        </p:blipFill>
        <p:spPr>
          <a:xfrm>
            <a:off x="5436096" y="1052735"/>
            <a:ext cx="2296487" cy="5019567"/>
          </a:xfrm>
          <a:prstGeom prst="rect">
            <a:avLst/>
          </a:prstGeom>
          <a:noFill/>
          <a:ln>
            <a:noFill/>
          </a:ln>
        </p:spPr>
      </p:pic>
      <p:sp>
        <p:nvSpPr>
          <p:cNvPr id="326" name="Google Shape;326;p13"/>
          <p:cNvSpPr txBox="1"/>
          <p:nvPr/>
        </p:nvSpPr>
        <p:spPr>
          <a:xfrm>
            <a:off x="3032325" y="6298286"/>
            <a:ext cx="20882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Valores não reais, apenas para mostrar layout de gráfico</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4"/>
          <p:cNvSpPr/>
          <p:nvPr/>
        </p:nvSpPr>
        <p:spPr>
          <a:xfrm>
            <a:off x="257359" y="98049"/>
            <a:ext cx="84249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3600">
                <a:solidFill>
                  <a:schemeClr val="dk1"/>
                </a:solidFill>
                <a:latin typeface="Calibri"/>
                <a:ea typeface="Calibri"/>
                <a:cs typeface="Calibri"/>
                <a:sym typeface="Calibri"/>
              </a:rPr>
              <a:t>Interação Android</a:t>
            </a:r>
            <a:endParaRPr sz="1200">
              <a:solidFill>
                <a:schemeClr val="dk1"/>
              </a:solidFill>
              <a:highlight>
                <a:srgbClr val="FFFF00"/>
              </a:highlight>
              <a:latin typeface="Calibri"/>
              <a:ea typeface="Calibri"/>
              <a:cs typeface="Calibri"/>
              <a:sym typeface="Calibri"/>
            </a:endParaRPr>
          </a:p>
        </p:txBody>
      </p:sp>
      <p:pic>
        <p:nvPicPr>
          <p:cNvPr id="333" name="Google Shape;333;p14"/>
          <p:cNvPicPr preferRelativeResize="0"/>
          <p:nvPr/>
        </p:nvPicPr>
        <p:blipFill rotWithShape="1">
          <a:blip r:embed="rId3">
            <a:alphaModFix/>
          </a:blip>
          <a:srcRect/>
          <a:stretch/>
        </p:blipFill>
        <p:spPr>
          <a:xfrm>
            <a:off x="395536" y="1052736"/>
            <a:ext cx="2498392" cy="4933975"/>
          </a:xfrm>
          <a:prstGeom prst="rect">
            <a:avLst/>
          </a:prstGeom>
          <a:noFill/>
          <a:ln>
            <a:noFill/>
          </a:ln>
        </p:spPr>
      </p:pic>
      <p:pic>
        <p:nvPicPr>
          <p:cNvPr id="334" name="Google Shape;334;p14"/>
          <p:cNvPicPr preferRelativeResize="0"/>
          <p:nvPr/>
        </p:nvPicPr>
        <p:blipFill rotWithShape="1">
          <a:blip r:embed="rId4">
            <a:alphaModFix/>
          </a:blip>
          <a:srcRect/>
          <a:stretch/>
        </p:blipFill>
        <p:spPr>
          <a:xfrm>
            <a:off x="3347864" y="1052736"/>
            <a:ext cx="2376264" cy="4863374"/>
          </a:xfrm>
          <a:prstGeom prst="rect">
            <a:avLst/>
          </a:prstGeom>
          <a:noFill/>
          <a:ln>
            <a:noFill/>
          </a:ln>
        </p:spPr>
      </p:pic>
      <p:sp>
        <p:nvSpPr>
          <p:cNvPr id="335" name="Google Shape;335;p14"/>
          <p:cNvSpPr txBox="1"/>
          <p:nvPr/>
        </p:nvSpPr>
        <p:spPr>
          <a:xfrm>
            <a:off x="6012160" y="2132856"/>
            <a:ext cx="20882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200">
                <a:solidFill>
                  <a:schemeClr val="dk1"/>
                </a:solidFill>
                <a:latin typeface="Calibri"/>
                <a:ea typeface="Calibri"/>
                <a:cs typeface="Calibri"/>
                <a:sym typeface="Calibri"/>
              </a:rPr>
              <a:t>Valores não reais, apenas para mostrar layout de gráfico</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2455</Words>
  <Application>Microsoft Office PowerPoint</Application>
  <PresentationFormat>On-screen Show (4:3)</PresentationFormat>
  <Paragraphs>189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Sistemas de Informação Distribuídos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Pedro Nogueira Ramos</dc:creator>
  <cp:lastModifiedBy>Pedro Ramos</cp:lastModifiedBy>
  <cp:revision>2</cp:revision>
  <dcterms:created xsi:type="dcterms:W3CDTF">2015-12-03T14:21:13Z</dcterms:created>
  <dcterms:modified xsi:type="dcterms:W3CDTF">2026-03-13T20:30:41Z</dcterms:modified>
</cp:coreProperties>
</file>